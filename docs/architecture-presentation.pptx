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Rosenberg maze provides a complex spatial environment with dead-end arms that force the mouse to make directional decisions. The light manipulation is the key experimental variable — by removing all visual cues in total darkness, we test whether RSP HD cells maintain their tuning through path integration alone or require visual landmarks. The two cell populations are genetically defined and non-overlapping: Penk-Cre drives GCaMP in Penk+ cells via the ADD3 Cre-ON virus, while the Cre-OFF intersectional virus 344 blocks expression in Penk+ cells so only non-Penk CamKII+ neurons are labelled. Both use GCaMP7f. The `celltype` column in `metadata/animals.csv` is `"penk"` or `"nonpenk"`. Single-plane imaging means soma and dendrite ROIs coexist in one plane — they are separated post-hoc by morphological classification, not by a second imaging plane.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raw-to-TIFF conversion (`raw2tif`) happens once and the TIFFs are the starting point for the pipeline. The `.tdms` DAQ file is critical — it provides the only precise timing link between the camera and the microscope. All 26 sessions have pre-processed videos already (undistorted and cropped), so the `.mp4` files in `rawdata/.../behav/` can go directly to DLC. The side camera (`_side_left.camera.mp4`) is never used. Video metadata (`meta/meta.txt`) contains the pixel-to-mm scale factor and the maze ROI corners needed for coordinate transformation. The z-stacks are used for the optional z-drift analysis (Stage 1b, `extraction/zdrift.py`) — they let us quantify how much the focal plane shifts during a session.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in this data flow is the two independent branches. The calcium branch (Stages 1, 4) and the pose branch (Stages 2, 3) can run in any order. They converge at Stage 5 (Sync), which resamples the ~100 Hz behavioural kinematics down to the ~9.6 Hz imaging rate using linear interpolation at each 2P frame timestamp. This means if you re-run DLC (Stage 2), you need to re-run Stages 3, 5, and 6 — but NOT Stage 4. The `scripts/run_downstream_pipeline.py` script automates this: it runs Stages 3 -&gt; 3b -&gt; 5 -&gt; 6 in sequence. All intermediate files are HDF5 format. The final `sync.h5` is the analysis-ready file that loads directly into pynapple.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NeuroBlueprint is a BIDS-inspired folder specification designed for systems neuroscience experiments. It uses `sub-` and `ses-` prefixes throughout. DataShuttle (also from the SWC neuroinformatics unit) handles upload and validation. The separation into two buckets allows different storage tiers — raw data rarely needs re-accessing so it goes to Infrequent Access ($0.0125/GB/month), while derivatives are accessed frequently by the frontend so they stay on Standard ($0.023/GB/month). The `dlc-champion.json` at the bucket root is the single source of truth for which DLC model is current — every derivative that depends on pose data records its `dlc_champion_id` attribute for staleness detection.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DAQ file is the timing backbone of the entire pipeline. The SciScan microscope and the Basler camera are both triggered by the DAQ — their frame times are extracted from trigger pulse edges in the TDMS data. The camera runs at ~100 fps and the microscope at ~9.6 Hz. The light on/off times are extracted from a separate DAQ channel that records the room light control signal. All downstream stages read clean HDF5 timestamps rather than parsing TDMS directly. This is a deliberate isolation of the nptdms dependency — if the DAQ format changes, only `daq.py` needs updating.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choice to use Cellpose 3 as an anatomical prior (mode 2) is deliberate. In single-plane RSP imaging, dendritic processes pass through the focal plane and look similar to small somata in activity space. The Cellpose prior biases detection toward compact, roughly circular morphologies, reducing false soma detections. Activity statistics then refine the candidate set. The alternative (mode 0, activity-only) is available as a fallback. The soma classifier framework allows both rule-based classification (reproducing the legacy hand-tuned thresholds) and a trained logistic regression model. Manual curation via the ROI Curation frontend page (`roi_curation_page.py`) writes to an append-only CSV — re-labelling never overwrites previous labels, so full provenance is preserved. The roiextractors API means all downstream calcium processing code is extractor-agnostic — switching from Suite2p to CaImAn requires only changing the `extractor` field in `experiments.csv`.</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SuperAnimal TopViewMouse model provides a strong prior for common mouse bodyparts, but it does not include the head midpoint keypoint (which corresponds to the 2P headstage mounting point). This keypoint is trained from scratch during fine-tuning and is easy to detect because the headstage is a high-contrast dark object on the mouse's head. The HRNet-W32 architecture was chosen over ResNet because it maintains high spatial resolution throughout the network. The FasterRCNN detector handles animal detection before pose estimation. Fine-tuning uses the SA transfer learning pathway. A known bug in DLC 3.0rc13/rc14 causes a KeyError when the detector finds no animal in a frame during memory replay — the `patch_dlc_memory_replay.py` script patches this at runtime on EC2. The 24-hour hard timeout and GPU utilization watchdog (terminates if 0% GPU for 5 consecutive minutes) prevent runaway costs.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DLC retraining workflow spans local Mac and cloud EC2. Frame selection uses PCA + k-means to find diverse, underrepresented frames rather than random selection. The `select_hard_frames.py` script clusters all video frames and picks centroids from clusters not yet represented in the training data. After labeling in napari, labeled data goes to S3 and triggers a cloud training run. The key safety feature is that EC2 instances self-terminate on completion (or after 24 hours, or if GPU utilisation drops to 0% for 5 minutes). The champion model system ensures that every derivative (kinematics.h5, sync.h5, analysis.h5) records which DLC model produced it, so the frontend can detect when data is stale after a model update.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champion model system solves a fundamental provenance problem: when you retrain DLC, all downstream derivatives become stale. Without tracking which model produced which output, you cannot know whether your analysis.h5 reflects the current or a previous model. The champion_id is a deterministic string computed from the model name, architecture, and snapshot — it changes only when the model itself changes. The frontend enforces this by checking every session's stored champion_id against the current manifest before displaying analysis data. Stale sessions show a prominent warning banner but are never hidden, because you may want to compare old vs new results during QC. The `scripts/declare_dlc_champion.py` script is called automatically at the end of a successful training run, so no manual step is needed.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`movement` library from the SWC/UCL neuroinformatics unit provides the unified pose loading layer. It returns the same xarray Dataset regardless of which tracker produced the data, so switching from DLC to SLEAP would require changing one string. Head direction is computed from 4 independent bodypart vectors and fused with confidence weighting — this provides robustness against individual bodypart detection failures. The orientation rotation corrects for camera placement variation across sessions (the camera is not always mounted at exactly the same angle). Perspective correction is important because the overhead camera has a finite viewing angle — bodyparts that are elevated above the maze floor (e.g., the head with the 2P headstage) appear displaced from their true ground-plane position. The Rosenberg maze is 7 x 5 units; maze coordinates are computed by projecting pixel positions through scale calibration and cropping to the maze boundary polygon using Shapely.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calcium processing chain follows the standard approach: neuropil subtraction removes the contaminating neuropil fluorescence signal that is mixed into every ROI's trace, dF/F0 normalisation expresses the signal as a fraction of baseline fluorescence, and event/spike detection identifies neural activity from the normalised traces. CASCADE (Rupprecht et al. 2021, Nature Neuroscience) is the primary spike inference method because it outputs calibrated spike rates in physical units (spikes/s), trained on ground-truth simultaneous imaging + electrophysiology datasets. The V&amp;H threshold method is retained as a fallback. The fixed neuropil coefficient of 0.7 is the Suite2p default — FISSA (spatial ICA) is more accurate in densely labelled tissue but requires a separate environment due to dependency conflicts. Stage 4b is separated because CASCADE can be re-run with a different model (e.g., matching a different GCaMP variant or frame rate) without repeating the neuropil subtraction and dF/F computation steps.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sync stage is where the two independent data streams (neural and behavioural) converge into a single time-aligned file. The key challenge is that the camera runs at ~100 fps while imaging runs at ~9.6 Hz — a ~10x difference. Linear interpolation at each imaging frame timestamp is appropriate for continuous signals like position and HD, while boolean signals use nearest-neighbour. The sync diagnostics module classifies each session into quality tiers based on non-parametric statistics (medians, MAD, CV — no parametric assumptions). Sessions with timing drift, missing frames, or poor overlap are flagged automatically. The sync report aggregates these diagnostics across all 26 sessions for at-a-glance quality assessment. The sync.h5 file is the final analysis-ready dataset — it's what loads into pynapple.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statistical test in the analysis module is non-parametric — this is a hard rule. The data from calcium imaging violates the assumptions of parametric tests (normality, homoscedasticity) in multiple ways: spike rates are not normally distributed, tuning curve shapes vary across cells, and the sample size per cell type (Penk+ vs CamKII+) is modest. We use Mann-Whitney U for unpaired comparisons, Wilcoxon signed-rank for paired, Spearman rank for correlations, and permutation/bootstrap tests for more complex hypotheses. The circular shuffle test for HD significance shuffles timestamps to break the temporal relationship between neural activity and head direction while preserving the autocorrelation structure of both signals. The Bayesian decoder uses the population vector of all HD cells to decode head direction from neural activity — the mean absolute error (MAE) in degrees is the primary output metric.</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NaviGraph-inspired analyses go beyond standard HD tuning curves by asking how neural activity relates to maze topology. For example, does HD tuning differ at junctions (where the mouse must choose a direction) vs corridors (where the path is constrained)? Do HD cells show different activity patterns at dead-ends (where the mouse must turn around)? The junction choice prediction analysis is particularly interesting for RSP — if pre-junction population vectors predict which way the mouse will turn, this suggests RSP HD activity participates in spatial decision-making, not just passive heading representation. All functions are pure numpy with no I/O — insufficient data returns NaN rather than raising. The maze animation page uses an HTML5 Canvas component (`frontend/components/maze_canvas.py`) that renders the mouse trajectory, skeleton, and HD arrow at 60 fps without Streamlit reruns.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canvas animation is a custom Streamlit component that bypasses the standard Streamlit re-render cycle. Streamlit's default behaviour is to re-run the entire Python script on every interaction, which is far too slow for real-time animation. Instead, the maze canvas embeds a self-contained HTML+JS+CSS block that runs at 60 fps in the browser. Data is serialised as JSON and injected into the JS code at render time. Each DOM element gets a unique suffix to avoid collisions when Streamlit re-renders the component. This provides fluid trajectory playback that you can scrub through to identify tracking failures, behavioural artefacts, or interesting behavioural events.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the primary interface for QC and analysis review. It is not a publication-quality figure generator — it is a real-time dashboard for monitoring pipeline progress, inspecting individual sessions, and verifying analysis results before preparing manuscript figures in separate scripts. The 67 pages are organised into 5 navigation sections. The "Pipeline" section lets you inspect each stage's output for each session (e.g., Suite2p ROI masks, DLC tracking overlays, sync timing diagnostics). The "Explore" section provides interactive tools for deep-diving into individual ROIs, traces, and events. The "Analysis" section presents the scientific results — HD tuning curves, decoder performance, anchoring analysis, etc. Google OAuth restricts access when deployed to a public URL; in local development mode, auth is skipped. All data is loaded from S3 via boto3 with Streamlit's `@st.cache_data` decorator for performance.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HDF5 schemas are deliberately designed for zero-friction pynapple loading. Arrays are stored time-first so that slicing `f["dff"][:].T` gives you `(T, R)` which is what pynapple's TsdFrame expects. Timestamps are always float64 seconds since session start, which is pynapple's native time unit. The dataset names are explicit about units: `hd_deg` (degrees), `speed_cm_s` (cm/s), `ahv_deg_s` (deg/s) — this prevents unit confusion. NEMOS would let us fit GLMs to ask "which behavioural variables (HD, speed, position) drive this ROI's activity?" — it's pynapple-native. CEBRA would let us look for ring-shaped manifolds in population activity space, which is a hallmark signature of HD population coding.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EC2 instances are Spot — significantly cheaper than On-Demand but can be interrupted. The pipeline is designed to handle interruptions: partial outputs are detected and re-run. The GPU watchdog is important because DLC training can sometimes hang silently with 0% GPU utilisation — without the watchdog, you would accumulate charges indefinitely. The self-termination behaviour means the instance terminates (not just stops) when the user-data script finishes, so you never accidentally leave a running instance. The security group is locked to a single IP address, and SSM Session Manager provides keyless SSH access for debugging. All launch scripts support `--status`, `--progress`, `--terminate`, and `--dry-run` flags. Cost is reported in USD first, then AUD in brackets.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Snakemake provides automatic dependency tracking — if you re-run Stage 2 (DLC), Snakemake knows to re-run Stages 3, 5, and 6 but not Stage 4. In practice, most pipeline runs use the direct runner scripts rather than the full Snakemake DAG, because the pipeline is relatively simple (6 stages, linear dependency) and the Snakemake rules primarily add overhead for this scale. The Docker images isolate incompatible dependencies: CASCADE requires Python 3.8 + tensorflow 2.3 (which conflicts with everything modern), keypoint-MoSeq has its own numpy/scikit-learn pins, and the GPU image needs CUDA. The `cascade.Dockerfile` is a standalone container for Stage 4b.</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HDF5 schema design is intentional — every design choice serves the pynapple interface. Time-first arrays mean that slicing a single time point from `dff` is a contiguous memory read (C-order). Float64 timestamps avoid precision loss over long sessions (a 30-minute session at 10 Hz is only 18,000 frames — float32 would lose sub-millisecond precision). Dataset names include units to prevent the most common source of analysis bugs. Pandera validation in `io/hdf5.py` checks that outputs conform to the schema at write time — this catches bugs early rather than discovering them when loading stale data weeks later. Backward compatibility aliases exist because early versions of kinematics.h5 used different names; they are maintained so existing analysis code does not break.</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testing philosophy is that every function must have at least one test, and tests must use synthetic data only. This means test data is small numpy arrays constructed in the test, not loaded from files. Hypothesis testing is particularly valuable for numerical functions like dF/F computation and HD angle calculations — it auto-generates edge cases (NaN inputs, zero-length arrays, large values) that would be tedious to write manually. The pre-commit hooks catch formatting issues, type errors, and accidentally committed secrets before they reach the repository. The CI pipeline runs on every push and blocks merges if coverage drops below 90%.</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module layout follows the pipeline stages, with each stage getting its own package. The `io/` package handles all file I/O and cloud interaction — no other module imports boto3 or writes HDF5 directly (they call io functions). The `analysis/` package depends on `sync/` output but never on `extraction/` or `pose/` directly. The `maze/` package is independent of the pipeline stages — it provides pure functions for maze topology and spatial analysis. The `patching/` package is a separate sub-pipeline for patch-clamp electrophysiology data (membrane properties, spike waveforms, morphology) that is independent of the calcium imaging pipeline.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patching pipeline is complementary to the calcium imaging pipeline. While the imaging pipeline measures population-level HD tuning in behaving animals, the patching data provides single-cell biophysical characterisation of the same cell populations — membrane properties (input resistance, capacitance, resting potential), action potential waveforms, intrinsic excitability (f-I curves), and dendritic morphology. The key question is whether Penk+ and CamKII+ neurons differ in their intrinsic properties, which might explain differences in HD tuning observed in the imaging data. All statistical comparisons use non-parametric tests.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functionally complete for all core stages. The main outstanding work is (1) CASCADE spike inference, which requires an isolated Python 3.8 environment due to tensorflow 2.3 constraints, (2) a DLC model re-run to refresh all pose-dependent derivatives with the current model, and (3) NWB export for data archiving on DANDI. The DLC champion model system is substantially implemented in code but the PLAN.md checklist has not been updated to reflect this. The frontend is operational with 67 pages and loads real data from S3. The Snakemake DAG has rules defined but in practice, pipeline stages are run via direct scripts (`run_stage3_kinematics.py`, etc.) rather than through the full Snakemake orchestration.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documentation gaps are a maintenance issue, not a technical one — the code is ahead of the docs. The most critical gap is the bodypart list in PLAN.md, which lists only the original 5 SuperAnimal keypoints instead of the current 8 (which include nose_tip, head_midpoint, and neck). The README pynapple example has incorrect dataset names that would cause KeyError if copy-pasted. The CASCADE and FISSA integration are blocked by Python version and dependency conflicts — both require isolated environments (Docker containers) that are defined but not yet integrated into the main workflow. The 5 missing sync.h5 sessions need investigation — they likely have timing edge cases that the sync validation catches.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reference slide is for quick lookup during discussions. The key entry points are: `frontend/app.py` to run the dashboard (`streamlit run frontend/app.py`), the `scripts/run_stage*.py` files to run individual pipeline stages, and `CLAUDE.md` for the complete set of project rules and constraints. The `docs/` directory contains 41 topic-specific markdown files covering everything from DLC retraining procedures to statistical strategy to neuropil analysis literature review. The legacy pipeline code in `old-pipeline/` is read-only reference — it is never modified.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The Experiment</a:t>
            </a:r>
          </a:p>
        </p:txBody>
      </p:sp>
      <p:sp>
        <p:nvSpPr>
          <p:cNvPr id="3" name="TextBox 2"/>
          <p:cNvSpPr txBox="1"/>
          <p:nvPr/>
        </p:nvSpPr>
        <p:spPr>
          <a:xfrm>
            <a:off x="457200" y="1051560"/>
            <a:ext cx="11247120" cy="365760"/>
          </a:xfrm>
          <a:prstGeom prst="rect">
            <a:avLst/>
          </a:prstGeom>
          <a:noFill/>
        </p:spPr>
        <p:txBody>
          <a:bodyPr wrap="none">
            <a:spAutoFit/>
          </a:bodyPr>
          <a:lstStyle/>
          <a:p>
            <a:r>
              <a:rPr sz="1400" b="0" i="1">
                <a:solidFill>
                  <a:srgbClr val="666666"/>
                </a:solidFill>
                <a:latin typeface="Calibri"/>
              </a:rPr>
              <a:t>hm2p-v2 Architecture Overview</a:t>
            </a:r>
          </a:p>
        </p:txBody>
      </p:sp>
      <p:sp>
        <p:nvSpPr>
          <p:cNvPr id="4" name="TextBox 3"/>
          <p:cNvSpPr txBox="1"/>
          <p:nvPr/>
        </p:nvSpPr>
        <p:spPr>
          <a:xfrm>
            <a:off x="457200" y="1417320"/>
            <a:ext cx="11247120" cy="5029200"/>
          </a:xfrm>
          <a:prstGeom prst="rect">
            <a:avLst/>
          </a:prstGeom>
          <a:noFill/>
        </p:spPr>
        <p:txBody>
          <a:bodyPr wrap="square">
            <a:spAutoFit/>
          </a:bodyPr>
          <a:lstStyle/>
          <a:p>
            <a:pPr>
              <a:spcBef>
                <a:spcPts val="400"/>
              </a:spcBef>
              <a:spcAft>
                <a:spcPts val="200"/>
              </a:spcAft>
            </a:pPr>
            <a:r>
              <a:rPr sz="1500" b="1" i="0">
                <a:solidFill>
                  <a:srgbClr val="1F4E79"/>
                </a:solidFill>
                <a:latin typeface="Calibri"/>
              </a:rPr>
              <a:t>Animal:</a:t>
            </a:r>
            <a:r>
              <a:rPr sz="1500" b="0" i="0">
                <a:solidFill>
                  <a:srgbClr val="333333"/>
                </a:solidFill>
                <a:latin typeface="Calibri"/>
              </a:rPr>
              <a:t> Freely-moving mouse in Rosenberg q-rose maze (7x5 grid, 23 cells, 6 dead-ends)</a:t>
            </a:r>
          </a:p>
          <a:p>
            <a:pPr>
              <a:spcBef>
                <a:spcPts val="400"/>
              </a:spcBef>
              <a:spcAft>
                <a:spcPts val="200"/>
              </a:spcAft>
            </a:pPr>
            <a:r>
              <a:rPr sz="1500" b="1" i="0">
                <a:solidFill>
                  <a:srgbClr val="1F4E79"/>
                </a:solidFill>
                <a:latin typeface="Calibri"/>
              </a:rPr>
              <a:t>Brain region:</a:t>
            </a:r>
            <a:r>
              <a:rPr sz="1500" b="0" i="0">
                <a:solidFill>
                  <a:srgbClr val="333333"/>
                </a:solidFill>
                <a:latin typeface="Calibri"/>
              </a:rPr>
              <a:t> Retrosplenial cortex (RSP) -- head-direction (HD) cells</a:t>
            </a:r>
          </a:p>
          <a:p>
            <a:pPr>
              <a:spcBef>
                <a:spcPts val="400"/>
              </a:spcBef>
              <a:spcAft>
                <a:spcPts val="200"/>
              </a:spcAft>
            </a:pPr>
            <a:r>
              <a:rPr sz="1500" b="1" i="0">
                <a:solidFill>
                  <a:srgbClr val="1F4E79"/>
                </a:solidFill>
                <a:latin typeface="Calibri"/>
              </a:rPr>
              <a:t>Imaging:</a:t>
            </a:r>
            <a:r>
              <a:rPr sz="1500" b="0" i="0">
                <a:solidFill>
                  <a:srgbClr val="333333"/>
                </a:solidFill>
                <a:latin typeface="Calibri"/>
              </a:rPr>
              <a:t> Single-plane 2P GCaMP7f at ~9.6 Hz (SciScan, 512x512 px)</a:t>
            </a:r>
          </a:p>
          <a:p>
            <a:pPr>
              <a:spcBef>
                <a:spcPts val="400"/>
              </a:spcBef>
              <a:spcAft>
                <a:spcPts val="200"/>
              </a:spcAft>
            </a:pPr>
            <a:r>
              <a:rPr sz="1500" b="1" i="0">
                <a:solidFill>
                  <a:srgbClr val="1F4E79"/>
                </a:solidFill>
                <a:latin typeface="Calibri"/>
              </a:rPr>
              <a:t>Behaviour:</a:t>
            </a:r>
            <a:r>
              <a:rPr sz="1500" b="0" i="0">
                <a:solidFill>
                  <a:srgbClr val="333333"/>
                </a:solidFill>
                <a:latin typeface="Calibri"/>
              </a:rPr>
              <a:t> Overhead video at ~100 fps (Basler acA1300-200um), DAQ-synchronised</a:t>
            </a:r>
          </a:p>
          <a:p>
            <a:pPr>
              <a:spcBef>
                <a:spcPts val="400"/>
              </a:spcBef>
              <a:spcAft>
                <a:spcPts val="200"/>
              </a:spcAft>
            </a:pPr>
            <a:r>
              <a:rPr sz="1500" b="1" i="0">
                <a:solidFill>
                  <a:srgbClr val="1F4E79"/>
                </a:solidFill>
                <a:latin typeface="Calibri"/>
              </a:rPr>
              <a:t>Light manipulation:</a:t>
            </a:r>
            <a:r>
              <a:rPr sz="1500" b="0" i="0">
                <a:solidFill>
                  <a:srgbClr val="333333"/>
                </a:solidFill>
                <a:latin typeface="Calibri"/>
              </a:rPr>
              <a:t> 1 min on / 1 min off -- total darkness = visual cue removal</a:t>
            </a:r>
          </a:p>
          <a:p>
            <a:pPr>
              <a:spcBef>
                <a:spcPts val="400"/>
              </a:spcBef>
              <a:spcAft>
                <a:spcPts val="200"/>
              </a:spcAft>
            </a:pPr>
            <a:r>
              <a:rPr sz="1500" b="1" i="0">
                <a:solidFill>
                  <a:srgbClr val="1F4E79"/>
                </a:solidFill>
                <a:latin typeface="Calibri"/>
              </a:rPr>
              <a:t>Two non-overlapping RSP populations:</a:t>
            </a:r>
          </a:p>
          <a:p>
            <a:pPr lvl="1">
              <a:spcBef>
                <a:spcPts val="400"/>
              </a:spcBef>
              <a:spcAft>
                <a:spcPts val="200"/>
              </a:spcAft>
            </a:pPr>
            <a:r>
              <a:rPr sz="1500" b="1" i="0">
                <a:solidFill>
                  <a:srgbClr val="1F4E79"/>
                </a:solidFill>
                <a:latin typeface="Calibri"/>
              </a:rPr>
              <a:t>Penk+:</a:t>
            </a:r>
            <a:r>
              <a:rPr sz="1500" b="0" i="0">
                <a:solidFill>
                  <a:srgbClr val="333333"/>
                </a:solidFill>
                <a:latin typeface="Calibri"/>
              </a:rPr>
              <a:t> Penk-Cre + AAV-ADD3 (Cre-ON)</a:t>
            </a:r>
          </a:p>
          <a:p>
            <a:pPr lvl="1">
              <a:spcBef>
                <a:spcPts val="400"/>
              </a:spcBef>
              <a:spcAft>
                <a:spcPts val="200"/>
              </a:spcAft>
            </a:pPr>
            <a:r>
              <a:rPr sz="1500" b="1" i="0">
                <a:solidFill>
                  <a:srgbClr val="1F4E79"/>
                </a:solidFill>
                <a:latin typeface="Calibri"/>
              </a:rPr>
              <a:t>Penk-minus CamKII+:</a:t>
            </a:r>
            <a:r>
              <a:rPr sz="1500" b="0" i="0">
                <a:solidFill>
                  <a:srgbClr val="333333"/>
                </a:solidFill>
                <a:latin typeface="Calibri"/>
              </a:rPr>
              <a:t> Penk-Cre + virus 344 (Cre-OFF intersectional)</a:t>
            </a:r>
          </a:p>
          <a:p>
            <a:pPr>
              <a:spcBef>
                <a:spcPts val="400"/>
              </a:spcBef>
              <a:spcAft>
                <a:spcPts val="200"/>
              </a:spcAft>
            </a:pPr>
            <a:r>
              <a:rPr sz="1500" b="1" i="0">
                <a:solidFill>
                  <a:srgbClr val="1F4E79"/>
                </a:solidFill>
                <a:latin typeface="Calibri"/>
              </a:rPr>
              <a:t>Dataset:</a:t>
            </a:r>
            <a:r>
              <a:rPr sz="1500" b="0" i="0">
                <a:solidFill>
                  <a:srgbClr val="333333"/>
                </a:solidFill>
                <a:latin typeface="Calibri"/>
              </a:rPr>
              <a:t> 26 sessions across 9 animals; ~113 GB raw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Raw Data -- What Comes Off the Rig</a:t>
            </a:r>
          </a:p>
        </p:txBody>
      </p:sp>
      <p:sp>
        <p:nvSpPr>
          <p:cNvPr id="3" name="TextBox 2"/>
          <p:cNvSpPr txBox="1"/>
          <p:nvPr/>
        </p:nvSpPr>
        <p:spPr>
          <a:xfrm>
            <a:off x="457200" y="1188720"/>
            <a:ext cx="11247120" cy="5029200"/>
          </a:xfrm>
          <a:prstGeom prst="rect">
            <a:avLst/>
          </a:prstGeom>
          <a:noFill/>
        </p:spPr>
        <p:txBody>
          <a:bodyPr wrap="square">
            <a:spAutoFit/>
          </a:bodyPr>
          <a:lstStyle/>
          <a:p>
            <a:pPr>
              <a:spcBef>
                <a:spcPts val="400"/>
              </a:spcBef>
              <a:spcAft>
                <a:spcPts val="200"/>
              </a:spcAft>
            </a:pPr>
            <a:r>
              <a:rPr sz="1500" b="1" i="0">
                <a:solidFill>
                  <a:srgbClr val="1F4E79"/>
                </a:solidFill>
                <a:latin typeface="Calibri"/>
              </a:rPr>
              <a:t>Two-photon TIFFs:</a:t>
            </a:r>
            <a:r>
              <a:rPr sz="1500" b="0" i="0">
                <a:solidFill>
                  <a:srgbClr val="333333"/>
                </a:solidFill>
                <a:latin typeface="Calibri"/>
              </a:rPr>
              <a:t> .raw (SciScan) converted to .tif stacks; green + red channels</a:t>
            </a:r>
          </a:p>
          <a:p>
            <a:pPr>
              <a:spcBef>
                <a:spcPts val="400"/>
              </a:spcBef>
              <a:spcAft>
                <a:spcPts val="200"/>
              </a:spcAft>
            </a:pPr>
            <a:r>
              <a:rPr sz="1500" b="1" i="0">
                <a:solidFill>
                  <a:srgbClr val="1F4E79"/>
                </a:solidFill>
                <a:latin typeface="Calibri"/>
              </a:rPr>
              <a:t>DAQ timing file:</a:t>
            </a:r>
            <a:r>
              <a:rPr sz="1500" b="0" i="0">
                <a:solidFill>
                  <a:srgbClr val="333333"/>
                </a:solidFill>
                <a:latin typeface="Calibri"/>
              </a:rPr>
              <a:t> .tdms with trigger pulses (camera, SciScan, light on/off)</a:t>
            </a:r>
          </a:p>
          <a:p>
            <a:pPr>
              <a:spcBef>
                <a:spcPts val="400"/>
              </a:spcBef>
              <a:spcAft>
                <a:spcPts val="200"/>
              </a:spcAft>
            </a:pPr>
            <a:r>
              <a:rPr sz="1500" b="1" i="0">
                <a:solidFill>
                  <a:srgbClr val="1F4E79"/>
                </a:solidFill>
                <a:latin typeface="Calibri"/>
              </a:rPr>
              <a:t>Overhead video:</a:t>
            </a:r>
            <a:r>
              <a:rPr sz="1500" b="0" i="0">
                <a:solidFill>
                  <a:srgbClr val="333333"/>
                </a:solidFill>
                <a:latin typeface="Calibri"/>
              </a:rPr>
              <a:t> .mp4 (H.264), pre-processed (undistorted + cropped)</a:t>
            </a:r>
          </a:p>
          <a:p>
            <a:pPr>
              <a:spcBef>
                <a:spcPts val="400"/>
              </a:spcBef>
              <a:spcAft>
                <a:spcPts val="200"/>
              </a:spcAft>
            </a:pPr>
            <a:r>
              <a:rPr sz="1500" b="1" i="0">
                <a:solidFill>
                  <a:srgbClr val="1F4E79"/>
                </a:solidFill>
                <a:latin typeface="Calibri"/>
              </a:rPr>
              <a:t>Video metadata:</a:t>
            </a:r>
            <a:r>
              <a:rPr sz="1500" b="0" i="0">
                <a:solidFill>
                  <a:srgbClr val="333333"/>
                </a:solidFill>
                <a:latin typeface="Calibri"/>
              </a:rPr>
              <a:t> meta/meta.txt -- crop region, scale (mm/px), maze ROI corners</a:t>
            </a:r>
          </a:p>
          <a:p>
            <a:pPr>
              <a:spcBef>
                <a:spcPts val="400"/>
              </a:spcBef>
              <a:spcAft>
                <a:spcPts val="200"/>
              </a:spcAft>
            </a:pPr>
            <a:r>
              <a:rPr sz="1500" b="1" i="0">
                <a:solidFill>
                  <a:srgbClr val="1F4E79"/>
                </a:solidFill>
                <a:latin typeface="Calibri"/>
              </a:rPr>
              <a:t>SciScan metadata:</a:t>
            </a:r>
            <a:r>
              <a:rPr sz="1500" b="0" i="0">
                <a:solidFill>
                  <a:srgbClr val="333333"/>
                </a:solidFill>
                <a:latin typeface="Calibri"/>
              </a:rPr>
              <a:t> .meta.txt -- frame rate, DAQ channel map</a:t>
            </a:r>
          </a:p>
          <a:p>
            <a:pPr>
              <a:spcBef>
                <a:spcPts val="400"/>
              </a:spcBef>
              <a:spcAft>
                <a:spcPts val="200"/>
              </a:spcAft>
            </a:pPr>
            <a:r>
              <a:rPr sz="1500" b="1" i="0">
                <a:solidFill>
                  <a:srgbClr val="1F4E79"/>
                </a:solidFill>
                <a:latin typeface="Calibri"/>
              </a:rPr>
              <a:t>Camera calibration:</a:t>
            </a:r>
            <a:r>
              <a:rPr sz="1500" b="0" i="0">
                <a:solidFill>
                  <a:srgbClr val="333333"/>
                </a:solidFill>
                <a:latin typeface="Calibri"/>
              </a:rPr>
              <a:t> lens-specific .npz files (4 mm and 6 mm)</a:t>
            </a:r>
          </a:p>
          <a:p>
            <a:pPr>
              <a:spcBef>
                <a:spcPts val="400"/>
              </a:spcBef>
              <a:spcAft>
                <a:spcPts val="200"/>
              </a:spcAft>
            </a:pPr>
            <a:r>
              <a:rPr sz="1500" b="1" i="0">
                <a:solidFill>
                  <a:srgbClr val="1F4E79"/>
                </a:solidFill>
                <a:latin typeface="Calibri"/>
              </a:rPr>
              <a:t>Z-stacks:</a:t>
            </a:r>
            <a:r>
              <a:rPr sz="1500" b="0" i="0">
                <a:solidFill>
                  <a:srgbClr val="333333"/>
                </a:solidFill>
                <a:latin typeface="Calibri"/>
              </a:rPr>
              <a:t> serial2p multi-page TIFFs (16/26 sessions, 13 z-stacks)</a:t>
            </a:r>
          </a:p>
          <a:p>
            <a:pPr>
              <a:spcBef>
                <a:spcPts val="400"/>
              </a:spcBef>
              <a:spcAft>
                <a:spcPts val="200"/>
              </a:spcAft>
            </a:pPr>
            <a:r>
              <a:rPr sz="1500" b="1" i="0">
                <a:solidFill>
                  <a:srgbClr val="1F4E79"/>
                </a:solidFill>
                <a:latin typeface="Calibri"/>
              </a:rPr>
              <a:t>Whole-brain volumes:</a:t>
            </a:r>
            <a:r>
              <a:rPr sz="1500" b="0" i="0">
                <a:solidFill>
                  <a:srgbClr val="333333"/>
                </a:solidFill>
                <a:latin typeface="Calibri"/>
              </a:rPr>
              <a:t> post-mortem serial2p (25 um), registered to Allen CCFv3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Data Flow -- From Raw to Analysis-Ready</a:t>
            </a:r>
          </a:p>
        </p:txBody>
      </p:sp>
      <p:sp>
        <p:nvSpPr>
          <p:cNvPr id="3" name="Rounded Rectangle 2"/>
          <p:cNvSpPr/>
          <p:nvPr/>
        </p:nvSpPr>
        <p:spPr>
          <a:xfrm>
            <a:off x="5029200" y="1188720"/>
            <a:ext cx="1828800" cy="502920"/>
          </a:xfrm>
          <a:prstGeom prst="roundRect">
            <a:avLst/>
          </a:prstGeom>
          <a:solidFill>
            <a:srgbClr val="333333"/>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Raw Data</a:t>
            </a:r>
          </a:p>
          <a:p>
            <a:pPr algn="ctr"/>
            <a:r>
              <a:rPr sz="1200" b="1" i="0">
                <a:solidFill>
                  <a:srgbClr val="FFFFFF"/>
                </a:solidFill>
                <a:latin typeface="Calibri"/>
              </a:rPr>
              <a:t>(Dropbox/S3)</a:t>
            </a:r>
          </a:p>
        </p:txBody>
      </p:sp>
      <p:sp>
        <p:nvSpPr>
          <p:cNvPr id="4" name="Rounded Rectangle 3"/>
          <p:cNvSpPr/>
          <p:nvPr/>
        </p:nvSpPr>
        <p:spPr>
          <a:xfrm>
            <a:off x="5029200" y="2011680"/>
            <a:ext cx="1828800" cy="502920"/>
          </a:xfrm>
          <a:prstGeom prst="roundRect">
            <a:avLst/>
          </a:prstGeom>
          <a:solidFill>
            <a:srgbClr val="1F4E79"/>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0</a:t>
            </a:r>
          </a:p>
          <a:p>
            <a:pPr algn="ctr"/>
            <a:r>
              <a:rPr sz="1200" b="1" i="0">
                <a:solidFill>
                  <a:srgbClr val="FFFFFF"/>
                </a:solidFill>
                <a:latin typeface="Calibri"/>
              </a:rPr>
              <a:t>Ingest &amp; DAQ Parse</a:t>
            </a:r>
          </a:p>
        </p:txBody>
      </p:sp>
      <p:cxnSp>
        <p:nvCxnSpPr>
          <p:cNvPr id="5" name="Connector 4"/>
          <p:cNvCxnSpPr/>
          <p:nvPr/>
        </p:nvCxnSpPr>
        <p:spPr>
          <a:xfrm>
            <a:off x="5943600" y="1691640"/>
            <a:ext cx="0" cy="32004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286000" y="2834640"/>
            <a:ext cx="1828800" cy="640080"/>
          </a:xfrm>
          <a:prstGeom prst="roundRect">
            <a:avLst/>
          </a:prstGeom>
          <a:solidFill>
            <a:srgbClr val="2E75B6"/>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1</a:t>
            </a:r>
          </a:p>
          <a:p>
            <a:pPr algn="ctr"/>
            <a:r>
              <a:rPr sz="1200" b="1" i="0">
                <a:solidFill>
                  <a:srgbClr val="FFFFFF"/>
                </a:solidFill>
                <a:latin typeface="Calibri"/>
              </a:rPr>
              <a:t>2P Extraction</a:t>
            </a:r>
          </a:p>
          <a:p>
            <a:pPr algn="ctr"/>
            <a:r>
              <a:rPr sz="1200" b="1" i="0">
                <a:solidFill>
                  <a:srgbClr val="FFFFFF"/>
                </a:solidFill>
                <a:latin typeface="Calibri"/>
              </a:rPr>
              <a:t>(Suite2p + Cellpose 3)</a:t>
            </a:r>
          </a:p>
        </p:txBody>
      </p:sp>
      <p:sp>
        <p:nvSpPr>
          <p:cNvPr id="7" name="Rounded Rectangle 6"/>
          <p:cNvSpPr/>
          <p:nvPr/>
        </p:nvSpPr>
        <p:spPr>
          <a:xfrm>
            <a:off x="7772400" y="2834640"/>
            <a:ext cx="1828800" cy="64008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2a</a:t>
            </a:r>
          </a:p>
          <a:p>
            <a:pPr algn="ctr"/>
            <a:r>
              <a:rPr sz="1200" b="1" i="0">
                <a:solidFill>
                  <a:srgbClr val="FFFFFF"/>
                </a:solidFill>
                <a:latin typeface="Calibri"/>
              </a:rPr>
              <a:t>DLC Training</a:t>
            </a:r>
          </a:p>
          <a:p>
            <a:pPr algn="ctr"/>
            <a:r>
              <a:rPr sz="1200" b="1" i="0">
                <a:solidFill>
                  <a:srgbClr val="FFFFFF"/>
                </a:solidFill>
                <a:latin typeface="Calibri"/>
              </a:rPr>
              <a:t>(SuperAnimal fine-tune)</a:t>
            </a:r>
          </a:p>
        </p:txBody>
      </p:sp>
      <p:cxnSp>
        <p:nvCxnSpPr>
          <p:cNvPr id="8" name="Connector 7"/>
          <p:cNvCxnSpPr/>
          <p:nvPr/>
        </p:nvCxnSpPr>
        <p:spPr>
          <a:xfrm>
            <a:off x="5486400" y="2514600"/>
            <a:ext cx="0" cy="320040"/>
          </a:xfrm>
          <a:prstGeom prst="line">
            <a:avLst/>
          </a:prstGeom>
          <a:ln w="25400">
            <a:solidFill>
              <a:srgbClr val="2E75B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2514600"/>
            <a:ext cx="0" cy="320040"/>
          </a:xfrm>
          <a:prstGeom prst="line">
            <a:avLst/>
          </a:prstGeom>
          <a:ln w="25400">
            <a:solidFill>
              <a:srgbClr val="17858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200400" y="2743200"/>
            <a:ext cx="2286000" cy="0"/>
          </a:xfrm>
          <a:prstGeom prst="line">
            <a:avLst/>
          </a:prstGeom>
          <a:ln w="25400">
            <a:solidFill>
              <a:srgbClr val="2E75B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400800" y="2743200"/>
            <a:ext cx="2286000" cy="0"/>
          </a:xfrm>
          <a:prstGeom prst="line">
            <a:avLst/>
          </a:prstGeom>
          <a:ln w="25400">
            <a:solidFill>
              <a:srgbClr val="17858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00400" y="2743200"/>
            <a:ext cx="0" cy="91440"/>
          </a:xfrm>
          <a:prstGeom prst="line">
            <a:avLst/>
          </a:prstGeom>
          <a:ln w="25400">
            <a:solidFill>
              <a:srgbClr val="2E75B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686800" y="2743200"/>
            <a:ext cx="0" cy="91440"/>
          </a:xfrm>
          <a:prstGeom prst="line">
            <a:avLst/>
          </a:prstGeom>
          <a:ln w="25400">
            <a:solidFill>
              <a:srgbClr val="17858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72400" y="3749039"/>
            <a:ext cx="1828800" cy="50292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2b</a:t>
            </a:r>
          </a:p>
          <a:p>
            <a:pPr algn="ctr"/>
            <a:r>
              <a:rPr sz="1200" b="1" i="0">
                <a:solidFill>
                  <a:srgbClr val="FFFFFF"/>
                </a:solidFill>
                <a:latin typeface="Calibri"/>
              </a:rPr>
              <a:t>DLC Inference</a:t>
            </a:r>
          </a:p>
        </p:txBody>
      </p:sp>
      <p:cxnSp>
        <p:nvCxnSpPr>
          <p:cNvPr id="15" name="Connector 14"/>
          <p:cNvCxnSpPr/>
          <p:nvPr/>
        </p:nvCxnSpPr>
        <p:spPr>
          <a:xfrm>
            <a:off x="8686800" y="3474720"/>
            <a:ext cx="0" cy="274319"/>
          </a:xfrm>
          <a:prstGeom prst="line">
            <a:avLst/>
          </a:prstGeom>
          <a:ln w="25400">
            <a:solidFill>
              <a:srgbClr val="17858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286000" y="3749039"/>
            <a:ext cx="1828800" cy="640080"/>
          </a:xfrm>
          <a:prstGeom prst="roundRect">
            <a:avLst/>
          </a:prstGeom>
          <a:solidFill>
            <a:srgbClr val="2E75B6"/>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4</a:t>
            </a:r>
          </a:p>
          <a:p>
            <a:pPr algn="ctr"/>
            <a:r>
              <a:rPr sz="1200" b="1" i="0">
                <a:solidFill>
                  <a:srgbClr val="FFFFFF"/>
                </a:solidFill>
                <a:latin typeface="Calibri"/>
              </a:rPr>
              <a:t>Calcium Processing</a:t>
            </a:r>
          </a:p>
          <a:p>
            <a:pPr algn="ctr"/>
            <a:r>
              <a:rPr sz="1200" b="1" i="0">
                <a:solidFill>
                  <a:srgbClr val="FFFFFF"/>
                </a:solidFill>
                <a:latin typeface="Calibri"/>
              </a:rPr>
              <a:t>(dF/F, CASCADE, events)</a:t>
            </a:r>
          </a:p>
        </p:txBody>
      </p:sp>
      <p:cxnSp>
        <p:nvCxnSpPr>
          <p:cNvPr id="17" name="Connector 16"/>
          <p:cNvCxnSpPr/>
          <p:nvPr/>
        </p:nvCxnSpPr>
        <p:spPr>
          <a:xfrm>
            <a:off x="3200400" y="3474720"/>
            <a:ext cx="0" cy="274319"/>
          </a:xfrm>
          <a:prstGeom prst="line">
            <a:avLst/>
          </a:prstGeom>
          <a:ln w="25400">
            <a:solidFill>
              <a:srgbClr val="2E75B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72400" y="4526280"/>
            <a:ext cx="1828800" cy="64008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3</a:t>
            </a:r>
          </a:p>
          <a:p>
            <a:pPr algn="ctr"/>
            <a:r>
              <a:rPr sz="1200" b="1" i="0">
                <a:solidFill>
                  <a:srgbClr val="FFFFFF"/>
                </a:solidFill>
                <a:latin typeface="Calibri"/>
              </a:rPr>
              <a:t>Kinematics</a:t>
            </a:r>
          </a:p>
          <a:p>
            <a:pPr algn="ctr"/>
            <a:r>
              <a:rPr sz="1200" b="1" i="0">
                <a:solidFill>
                  <a:srgbClr val="FFFFFF"/>
                </a:solidFill>
                <a:latin typeface="Calibri"/>
              </a:rPr>
              <a:t>(HD, position, speed)</a:t>
            </a:r>
          </a:p>
        </p:txBody>
      </p:sp>
      <p:cxnSp>
        <p:nvCxnSpPr>
          <p:cNvPr id="19" name="Connector 18"/>
          <p:cNvCxnSpPr/>
          <p:nvPr/>
        </p:nvCxnSpPr>
        <p:spPr>
          <a:xfrm>
            <a:off x="8686800" y="4251959"/>
            <a:ext cx="0" cy="274321"/>
          </a:xfrm>
          <a:prstGeom prst="line">
            <a:avLst/>
          </a:prstGeom>
          <a:ln w="25400">
            <a:solidFill>
              <a:srgbClr val="178585"/>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29200" y="5486400"/>
            <a:ext cx="1828800" cy="502920"/>
          </a:xfrm>
          <a:prstGeom prst="roundRect">
            <a:avLst/>
          </a:prstGeom>
          <a:solidFill>
            <a:srgbClr val="1F4E79"/>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5 -- Sync</a:t>
            </a:r>
          </a:p>
          <a:p>
            <a:pPr algn="ctr"/>
            <a:r>
              <a:rPr sz="1200" b="1" i="0">
                <a:solidFill>
                  <a:srgbClr val="FFFFFF"/>
                </a:solidFill>
                <a:latin typeface="Calibri"/>
              </a:rPr>
              <a:t>(neural + behavioural merge)</a:t>
            </a:r>
          </a:p>
        </p:txBody>
      </p:sp>
      <p:cxnSp>
        <p:nvCxnSpPr>
          <p:cNvPr id="21" name="Connector 20"/>
          <p:cNvCxnSpPr/>
          <p:nvPr/>
        </p:nvCxnSpPr>
        <p:spPr>
          <a:xfrm>
            <a:off x="3200400" y="4389119"/>
            <a:ext cx="0" cy="1348741"/>
          </a:xfrm>
          <a:prstGeom prst="line">
            <a:avLst/>
          </a:prstGeom>
          <a:ln w="25400">
            <a:solidFill>
              <a:srgbClr val="2E75B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200400" y="5737860"/>
            <a:ext cx="1828800" cy="0"/>
          </a:xfrm>
          <a:prstGeom prst="line">
            <a:avLst/>
          </a:prstGeom>
          <a:ln>
            <a:solidFill>
              <a:srgbClr val="2E75B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5166360"/>
            <a:ext cx="0" cy="571500"/>
          </a:xfrm>
          <a:prstGeom prst="line">
            <a:avLst/>
          </a:prstGeom>
          <a:ln w="25400">
            <a:solidFill>
              <a:srgbClr val="17858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858000" y="5737860"/>
            <a:ext cx="1828800" cy="0"/>
          </a:xfrm>
          <a:prstGeom prst="line">
            <a:avLst/>
          </a:prstGeom>
          <a:ln>
            <a:solidFill>
              <a:srgbClr val="178585"/>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5486400"/>
            <a:ext cx="1828800" cy="502920"/>
          </a:xfrm>
          <a:prstGeom prst="roundRect">
            <a:avLst/>
          </a:prstGeom>
          <a:solidFill>
            <a:srgbClr val="E07C24"/>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Stage 6</a:t>
            </a:r>
          </a:p>
          <a:p>
            <a:pPr algn="ctr"/>
            <a:r>
              <a:rPr sz="1200" b="1" i="0">
                <a:solidFill>
                  <a:srgbClr val="FFFFFF"/>
                </a:solidFill>
                <a:latin typeface="Calibri"/>
              </a:rPr>
              <a:t>Analysis</a:t>
            </a:r>
          </a:p>
        </p:txBody>
      </p:sp>
      <p:cxnSp>
        <p:nvCxnSpPr>
          <p:cNvPr id="26" name="Connector 25"/>
          <p:cNvCxnSpPr/>
          <p:nvPr/>
        </p:nvCxnSpPr>
        <p:spPr>
          <a:xfrm>
            <a:off x="6858000" y="5737860"/>
            <a:ext cx="914400" cy="0"/>
          </a:xfrm>
          <a:prstGeom prst="line">
            <a:avLst/>
          </a:prstGeom>
          <a:ln w="25400">
            <a:solidFill>
              <a:srgbClr val="E07C24"/>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65760" y="1188720"/>
            <a:ext cx="182880" cy="1828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1170432"/>
            <a:ext cx="1645920" cy="228600"/>
          </a:xfrm>
          <a:prstGeom prst="rect">
            <a:avLst/>
          </a:prstGeom>
          <a:noFill/>
        </p:spPr>
        <p:txBody>
          <a:bodyPr wrap="none">
            <a:spAutoFit/>
          </a:bodyPr>
          <a:lstStyle/>
          <a:p>
            <a:r>
              <a:rPr sz="1100" b="1" i="0">
                <a:solidFill>
                  <a:srgbClr val="2E75B6"/>
                </a:solidFill>
                <a:latin typeface="Calibri"/>
              </a:rPr>
              <a:t>Calcium branch</a:t>
            </a:r>
          </a:p>
        </p:txBody>
      </p:sp>
      <p:sp>
        <p:nvSpPr>
          <p:cNvPr id="29" name="Rectangle 28"/>
          <p:cNvSpPr/>
          <p:nvPr/>
        </p:nvSpPr>
        <p:spPr>
          <a:xfrm>
            <a:off x="365760" y="1463040"/>
            <a:ext cx="182880" cy="182880"/>
          </a:xfrm>
          <a:prstGeom prst="rect">
            <a:avLst/>
          </a:prstGeom>
          <a:solidFill>
            <a:srgbClr val="17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1444752"/>
            <a:ext cx="1645920" cy="228600"/>
          </a:xfrm>
          <a:prstGeom prst="rect">
            <a:avLst/>
          </a:prstGeom>
          <a:noFill/>
        </p:spPr>
        <p:txBody>
          <a:bodyPr wrap="none">
            <a:spAutoFit/>
          </a:bodyPr>
          <a:lstStyle/>
          <a:p>
            <a:r>
              <a:rPr sz="1100" b="1" i="0">
                <a:solidFill>
                  <a:srgbClr val="178585"/>
                </a:solidFill>
                <a:latin typeface="Calibri"/>
              </a:rPr>
              <a:t>Pose branch</a:t>
            </a:r>
          </a:p>
        </p:txBody>
      </p:sp>
      <p:sp>
        <p:nvSpPr>
          <p:cNvPr id="31" name="Rectangle 30"/>
          <p:cNvSpPr/>
          <p:nvPr/>
        </p:nvSpPr>
        <p:spPr>
          <a:xfrm>
            <a:off x="365760" y="1737360"/>
            <a:ext cx="182880" cy="1828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1719072"/>
            <a:ext cx="1645920" cy="228600"/>
          </a:xfrm>
          <a:prstGeom prst="rect">
            <a:avLst/>
          </a:prstGeom>
          <a:noFill/>
        </p:spPr>
        <p:txBody>
          <a:bodyPr wrap="none">
            <a:spAutoFit/>
          </a:bodyPr>
          <a:lstStyle/>
          <a:p>
            <a:r>
              <a:rPr sz="1100" b="1" i="0">
                <a:solidFill>
                  <a:srgbClr val="1F4E79"/>
                </a:solidFill>
                <a:latin typeface="Calibri"/>
              </a:rPr>
              <a:t>Convergence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S3 Storage Layout</a:t>
            </a:r>
          </a:p>
        </p:txBody>
      </p:sp>
      <p:sp>
        <p:nvSpPr>
          <p:cNvPr id="3" name="Rounded Rectangle 2"/>
          <p:cNvSpPr/>
          <p:nvPr/>
        </p:nvSpPr>
        <p:spPr>
          <a:xfrm>
            <a:off x="457200" y="1280160"/>
            <a:ext cx="5303520" cy="3931920"/>
          </a:xfrm>
          <a:prstGeom prst="roundRect">
            <a:avLst/>
          </a:prstGeom>
          <a:solidFill>
            <a:srgbClr val="D6E4F0"/>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1F4E79"/>
                </a:solidFill>
                <a:latin typeface="Calibri"/>
              </a:rPr>
              <a:t/>
            </a:r>
          </a:p>
        </p:txBody>
      </p:sp>
      <p:sp>
        <p:nvSpPr>
          <p:cNvPr id="4" name="TextBox 3"/>
          <p:cNvSpPr txBox="1"/>
          <p:nvPr/>
        </p:nvSpPr>
        <p:spPr>
          <a:xfrm>
            <a:off x="640080" y="1371600"/>
            <a:ext cx="4937760" cy="365760"/>
          </a:xfrm>
          <a:prstGeom prst="rect">
            <a:avLst/>
          </a:prstGeom>
          <a:noFill/>
        </p:spPr>
        <p:txBody>
          <a:bodyPr wrap="none">
            <a:spAutoFit/>
          </a:bodyPr>
          <a:lstStyle/>
          <a:p>
            <a:r>
              <a:rPr sz="1600" b="1" i="0">
                <a:solidFill>
                  <a:srgbClr val="1F4E79"/>
                </a:solidFill>
                <a:latin typeface="Consolas"/>
              </a:rPr>
              <a:t>s3://hm2p-rawdata/</a:t>
            </a:r>
          </a:p>
        </p:txBody>
      </p:sp>
      <p:sp>
        <p:nvSpPr>
          <p:cNvPr id="5" name="TextBox 4"/>
          <p:cNvSpPr txBox="1"/>
          <p:nvPr/>
        </p:nvSpPr>
        <p:spPr>
          <a:xfrm>
            <a:off x="640080" y="1828800"/>
            <a:ext cx="4937760" cy="3200400"/>
          </a:xfrm>
          <a:prstGeom prst="rect">
            <a:avLst/>
          </a:prstGeom>
          <a:noFill/>
        </p:spPr>
        <p:txBody>
          <a:bodyPr wrap="square">
            <a:spAutoFit/>
          </a:bodyPr>
          <a:lstStyle/>
          <a:p>
            <a:r>
              <a:rPr sz="1200" b="0" i="0">
                <a:solidFill>
                  <a:srgbClr val="333333"/>
                </a:solidFill>
                <a:latin typeface="Consolas"/>
              </a:rPr>
              <a:t>rawdata/sub-{id}/ses-{ts}/</a:t>
            </a:r>
          </a:p>
          <a:p>
            <a:r>
              <a:rPr sz="1200" b="0" i="0">
                <a:solidFill>
                  <a:srgbClr val="333333"/>
                </a:solidFill>
                <a:latin typeface="Consolas"/>
              </a:rPr>
              <a:t>  funcimg/  --  2P TIFF stacks + .meta.txt</a:t>
            </a:r>
          </a:p>
          <a:p>
            <a:r>
              <a:rPr sz="1200" b="0" i="0">
                <a:solidFill>
                  <a:srgbClr val="333333"/>
                </a:solidFill>
                <a:latin typeface="Consolas"/>
              </a:rPr>
              <a:t>  behav/  --  .mp4 video + meta/ + .tdms</a:t>
            </a:r>
          </a:p>
          <a:p>
            <a:r>
              <a:rPr sz="1200" b="0" i="0">
                <a:solidFill>
                  <a:srgbClr val="333333"/>
                </a:solidFill>
                <a:latin typeface="Consolas"/>
              </a:rPr>
              <a:t/>
            </a:r>
          </a:p>
          <a:p>
            <a:r>
              <a:rPr sz="1200" b="0" i="0">
                <a:solidFill>
                  <a:srgbClr val="333333"/>
                </a:solidFill>
                <a:latin typeface="Consolas"/>
              </a:rPr>
              <a:t>sourcedata/</a:t>
            </a:r>
          </a:p>
          <a:p>
            <a:r>
              <a:rPr sz="1200" b="0" i="0">
                <a:solidFill>
                  <a:srgbClr val="333333"/>
                </a:solidFill>
                <a:latin typeface="Consolas"/>
              </a:rPr>
              <a:t>  trackers/dlc/  --  DLC model weights + labeled data</a:t>
            </a:r>
          </a:p>
          <a:p>
            <a:r>
              <a:rPr sz="1200" b="0" i="0">
                <a:solidFill>
                  <a:srgbClr val="333333"/>
                </a:solidFill>
                <a:latin typeface="Consolas"/>
              </a:rPr>
              <a:t>  calibration/  --  camera .npz files</a:t>
            </a:r>
          </a:p>
          <a:p>
            <a:r>
              <a:rPr sz="1200" b="0" i="0">
                <a:solidFill>
                  <a:srgbClr val="333333"/>
                </a:solidFill>
                <a:latin typeface="Consolas"/>
              </a:rPr>
              <a:t>  metadata/  --  animals.csv, experiments.csv</a:t>
            </a:r>
          </a:p>
          <a:p>
            <a:r>
              <a:rPr sz="1200" b="0" i="0">
                <a:solidFill>
                  <a:srgbClr val="333333"/>
                </a:solidFill>
                <a:latin typeface="Consolas"/>
              </a:rPr>
              <a:t>  zstacks/{id}/  --  serial2p z-stacks</a:t>
            </a:r>
          </a:p>
        </p:txBody>
      </p:sp>
      <p:sp>
        <p:nvSpPr>
          <p:cNvPr id="6" name="Rounded Rectangle 5"/>
          <p:cNvSpPr/>
          <p:nvPr/>
        </p:nvSpPr>
        <p:spPr>
          <a:xfrm>
            <a:off x="6126480" y="1280160"/>
            <a:ext cx="5577840" cy="3931920"/>
          </a:xfrm>
          <a:prstGeom prst="roundRect">
            <a:avLst/>
          </a:prstGeom>
          <a:solidFill>
            <a:srgbClr val="D6E4F0"/>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1F4E79"/>
                </a:solidFill>
                <a:latin typeface="Calibri"/>
              </a:rPr>
              <a:t/>
            </a:r>
          </a:p>
        </p:txBody>
      </p:sp>
      <p:sp>
        <p:nvSpPr>
          <p:cNvPr id="7" name="TextBox 6"/>
          <p:cNvSpPr txBox="1"/>
          <p:nvPr/>
        </p:nvSpPr>
        <p:spPr>
          <a:xfrm>
            <a:off x="6309360" y="1371600"/>
            <a:ext cx="5212080" cy="365760"/>
          </a:xfrm>
          <a:prstGeom prst="rect">
            <a:avLst/>
          </a:prstGeom>
          <a:noFill/>
        </p:spPr>
        <p:txBody>
          <a:bodyPr wrap="none">
            <a:spAutoFit/>
          </a:bodyPr>
          <a:lstStyle/>
          <a:p>
            <a:r>
              <a:rPr sz="1600" b="1" i="0">
                <a:solidFill>
                  <a:srgbClr val="1F4E79"/>
                </a:solidFill>
                <a:latin typeface="Consolas"/>
              </a:rPr>
              <a:t>s3://hm2p-derivatives/</a:t>
            </a:r>
          </a:p>
        </p:txBody>
      </p:sp>
      <p:sp>
        <p:nvSpPr>
          <p:cNvPr id="8" name="TextBox 7"/>
          <p:cNvSpPr txBox="1"/>
          <p:nvPr/>
        </p:nvSpPr>
        <p:spPr>
          <a:xfrm>
            <a:off x="6309360" y="1828800"/>
            <a:ext cx="5212080" cy="3200400"/>
          </a:xfrm>
          <a:prstGeom prst="rect">
            <a:avLst/>
          </a:prstGeom>
          <a:noFill/>
        </p:spPr>
        <p:txBody>
          <a:bodyPr wrap="square">
            <a:spAutoFit/>
          </a:bodyPr>
          <a:lstStyle/>
          <a:p>
            <a:r>
              <a:rPr sz="1200" b="0" i="0">
                <a:solidFill>
                  <a:srgbClr val="333333"/>
                </a:solidFill>
                <a:latin typeface="Consolas"/>
              </a:rPr>
              <a:t>derivatives/</a:t>
            </a:r>
          </a:p>
          <a:p>
            <a:r>
              <a:rPr sz="1200" b="0" i="0">
                <a:solidFill>
                  <a:srgbClr val="333333"/>
                </a:solidFill>
                <a:latin typeface="Consolas"/>
              </a:rPr>
              <a:t>  ca_extraction/{sub}/{ses}/suite2p/</a:t>
            </a:r>
          </a:p>
          <a:p>
            <a:r>
              <a:rPr sz="1200" b="0" i="0">
                <a:solidFill>
                  <a:srgbClr val="333333"/>
                </a:solidFill>
                <a:latin typeface="Consolas"/>
              </a:rPr>
              <a:t>  pose/{sub}/{ses}/  --  DLC .h5 files</a:t>
            </a:r>
          </a:p>
          <a:p>
            <a:r>
              <a:rPr sz="1200" b="0" i="0">
                <a:solidFill>
                  <a:srgbClr val="333333"/>
                </a:solidFill>
                <a:latin typeface="Consolas"/>
              </a:rPr>
              <a:t>  movement/{sub}/{ses}/kinematics.h5</a:t>
            </a:r>
          </a:p>
          <a:p>
            <a:r>
              <a:rPr sz="1200" b="0" i="0">
                <a:solidFill>
                  <a:srgbClr val="333333"/>
                </a:solidFill>
                <a:latin typeface="Consolas"/>
              </a:rPr>
              <a:t>  calcium/{sub}/{ses}/ca.h5</a:t>
            </a:r>
          </a:p>
          <a:p>
            <a:r>
              <a:rPr sz="1200" b="0" i="0">
                <a:solidFill>
                  <a:srgbClr val="333333"/>
                </a:solidFill>
                <a:latin typeface="Consolas"/>
              </a:rPr>
              <a:t>  sync/{sub}/{ses}/sync.h5</a:t>
            </a:r>
          </a:p>
          <a:p>
            <a:r>
              <a:rPr sz="1200" b="0" i="0">
                <a:solidFill>
                  <a:srgbClr val="333333"/>
                </a:solidFill>
                <a:latin typeface="Consolas"/>
              </a:rPr>
              <a:t>  analysis/{sub}/{ses}/analysis.h5</a:t>
            </a:r>
          </a:p>
          <a:p>
            <a:r>
              <a:rPr sz="1200" b="0" i="0">
                <a:solidFill>
                  <a:srgbClr val="333333"/>
                </a:solidFill>
                <a:latin typeface="Consolas"/>
              </a:rPr>
              <a:t/>
            </a:r>
          </a:p>
          <a:p>
            <a:r>
              <a:rPr sz="1200" b="0" i="0">
                <a:solidFill>
                  <a:srgbClr val="333333"/>
                </a:solidFill>
                <a:latin typeface="Consolas"/>
              </a:rPr>
              <a:t>dlc-retrain/  --  training data + models</a:t>
            </a:r>
          </a:p>
          <a:p>
            <a:r>
              <a:rPr sz="1200" b="0" i="0">
                <a:solidFill>
                  <a:srgbClr val="333333"/>
                </a:solidFill>
                <a:latin typeface="Consolas"/>
              </a:rPr>
              <a:t>dlc-champion.json  --  current champion model</a:t>
            </a:r>
          </a:p>
          <a:p>
            <a:r>
              <a:rPr sz="1200" b="0" i="0">
                <a:solidFill>
                  <a:srgbClr val="333333"/>
                </a:solidFill>
                <a:latin typeface="Consolas"/>
              </a:rPr>
              <a:t>dlc-champion-history/  --  superseded champions</a:t>
            </a:r>
          </a:p>
        </p:txBody>
      </p:sp>
      <p:sp>
        <p:nvSpPr>
          <p:cNvPr id="9" name="TextBox 8"/>
          <p:cNvSpPr txBox="1"/>
          <p:nvPr/>
        </p:nvSpPr>
        <p:spPr>
          <a:xfrm>
            <a:off x="457200" y="5394960"/>
            <a:ext cx="11247120" cy="1371600"/>
          </a:xfrm>
          <a:prstGeom prst="rect">
            <a:avLst/>
          </a:prstGeom>
          <a:noFill/>
        </p:spPr>
        <p:txBody>
          <a:bodyPr wrap="square">
            <a:spAutoFit/>
          </a:bodyPr>
          <a:lstStyle/>
          <a:p>
            <a:pPr>
              <a:spcBef>
                <a:spcPts val="400"/>
              </a:spcBef>
              <a:spcAft>
                <a:spcPts val="200"/>
              </a:spcAft>
            </a:pPr>
            <a:r>
              <a:rPr sz="1300" b="0" i="0">
                <a:solidFill>
                  <a:srgbClr val="333333"/>
                </a:solidFill>
                <a:latin typeface="Calibri"/>
              </a:rPr>
              <a:t>NeuroBlueprint folder standard (BIDS-inspired, from SWC/UCL neuroinformatics)</a:t>
            </a:r>
          </a:p>
          <a:p>
            <a:pPr>
              <a:spcBef>
                <a:spcPts val="400"/>
              </a:spcBef>
              <a:spcAft>
                <a:spcPts val="200"/>
              </a:spcAft>
            </a:pPr>
            <a:r>
              <a:rPr sz="1300" b="1" i="0">
                <a:solidFill>
                  <a:srgbClr val="1F4E79"/>
                </a:solidFill>
                <a:latin typeface="Calibri"/>
              </a:rPr>
              <a:t>Session names:</a:t>
            </a:r>
            <a:r>
              <a:rPr sz="1300" b="0" i="0">
                <a:solidFill>
                  <a:srgbClr val="333333"/>
                </a:solidFill>
                <a:latin typeface="Calibri"/>
              </a:rPr>
              <a:t> ses-{YYYYMMDD}T{HHMMSS} (full timestamp; multiple sessions/day)</a:t>
            </a:r>
          </a:p>
          <a:p>
            <a:pPr>
              <a:spcBef>
                <a:spcPts val="400"/>
              </a:spcBef>
              <a:spcAft>
                <a:spcPts val="200"/>
              </a:spcAft>
            </a:pPr>
            <a:r>
              <a:rPr sz="1300" b="1" i="0">
                <a:solidFill>
                  <a:srgbClr val="1F4E79"/>
                </a:solidFill>
                <a:latin typeface="Calibri"/>
              </a:rPr>
              <a:t>Two buckets:</a:t>
            </a:r>
            <a:r>
              <a:rPr sz="1300" b="0" i="0">
                <a:solidFill>
                  <a:srgbClr val="333333"/>
                </a:solidFill>
                <a:latin typeface="Calibri"/>
              </a:rPr>
              <a:t> rawdata (Infrequent Access) vs derivatives (Standard)</a:t>
            </a:r>
          </a:p>
          <a:p>
            <a:pPr>
              <a:spcBef>
                <a:spcPts val="400"/>
              </a:spcBef>
              <a:spcAft>
                <a:spcPts val="200"/>
              </a:spcAft>
            </a:pPr>
            <a:r>
              <a:rPr sz="1300" b="1" i="0">
                <a:solidFill>
                  <a:srgbClr val="1F4E79"/>
                </a:solidFill>
                <a:latin typeface="Calibri"/>
              </a:rPr>
              <a:t>Storage cost:</a:t>
            </a:r>
            <a:r>
              <a:rPr sz="1300" b="0" i="0">
                <a:solidFill>
                  <a:srgbClr val="333333"/>
                </a:solidFill>
                <a:latin typeface="Calibri"/>
              </a:rPr>
              <a:t> ~$10/month (600 GB raw + ~150 GB derivatives)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Stage 0 -- DAQ Parsing</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500" b="1" i="0">
                <a:solidFill>
                  <a:srgbClr val="1F4E79"/>
                </a:solidFill>
                <a:latin typeface="Calibri"/>
              </a:rPr>
              <a:t>Input:</a:t>
            </a:r>
            <a:r>
              <a:rPr sz="1500" b="0" i="0">
                <a:solidFill>
                  <a:srgbClr val="333333"/>
                </a:solidFill>
                <a:latin typeface="Calibri"/>
              </a:rPr>
              <a:t> daq.tdms per session (NI DAQ binary format)</a:t>
            </a:r>
          </a:p>
          <a:p>
            <a:pPr>
              <a:spcBef>
                <a:spcPts val="400"/>
              </a:spcBef>
              <a:spcAft>
                <a:spcPts val="200"/>
              </a:spcAft>
            </a:pPr>
            <a:r>
              <a:rPr sz="1500" b="1" i="0">
                <a:solidFill>
                  <a:srgbClr val="1F4E79"/>
                </a:solidFill>
                <a:latin typeface="Calibri"/>
              </a:rPr>
              <a:t>Parser:</a:t>
            </a:r>
            <a:r>
              <a:rPr sz="1500" b="0" i="0">
                <a:solidFill>
                  <a:srgbClr val="333333"/>
                </a:solidFill>
                <a:latin typeface="Calibri"/>
              </a:rPr>
              <a:t> nptdms library -- isolated to src/hm2p/ingest/daq.py</a:t>
            </a:r>
          </a:p>
          <a:p>
            <a:pPr>
              <a:spcBef>
                <a:spcPts val="400"/>
              </a:spcBef>
              <a:spcAft>
                <a:spcPts val="200"/>
              </a:spcAft>
            </a:pPr>
            <a:r>
              <a:rPr sz="1500" b="1" i="0">
                <a:solidFill>
                  <a:srgbClr val="1F4E79"/>
                </a:solidFill>
                <a:latin typeface="Calibri"/>
              </a:rPr>
              <a:t>Output:</a:t>
            </a:r>
            <a:r>
              <a:rPr sz="1500" b="0" i="0">
                <a:solidFill>
                  <a:srgbClr val="333333"/>
                </a:solidFill>
                <a:latin typeface="Calibri"/>
              </a:rPr>
              <a:t> timestamps.h5 with:</a:t>
            </a:r>
          </a:p>
          <a:p>
            <a:pPr lvl="1">
              <a:spcBef>
                <a:spcPts val="400"/>
              </a:spcBef>
              <a:spcAft>
                <a:spcPts val="200"/>
              </a:spcAft>
            </a:pPr>
            <a:r>
              <a:rPr sz="1500" b="0" i="0">
                <a:solidFill>
                  <a:srgbClr val="333333"/>
                </a:solidFill>
                <a:latin typeface="Calibri"/>
              </a:rPr>
              <a:t>frame_times_camera (N,) float64 -- camera trigger timestamps</a:t>
            </a:r>
          </a:p>
          <a:p>
            <a:pPr lvl="1">
              <a:spcBef>
                <a:spcPts val="400"/>
              </a:spcBef>
              <a:spcAft>
                <a:spcPts val="200"/>
              </a:spcAft>
            </a:pPr>
            <a:r>
              <a:rPr sz="1500" b="0" i="0">
                <a:solidFill>
                  <a:srgbClr val="333333"/>
                </a:solidFill>
                <a:latin typeface="Calibri"/>
              </a:rPr>
              <a:t>frame_times_imaging (T,) float64 -- 2P frame timestamps</a:t>
            </a:r>
          </a:p>
          <a:p>
            <a:pPr lvl="1">
              <a:spcBef>
                <a:spcPts val="400"/>
              </a:spcBef>
              <a:spcAft>
                <a:spcPts val="200"/>
              </a:spcAft>
            </a:pPr>
            <a:r>
              <a:rPr sz="1500" b="0" i="0">
                <a:solidFill>
                  <a:srgbClr val="333333"/>
                </a:solidFill>
                <a:latin typeface="Calibri"/>
              </a:rPr>
              <a:t>light_on_times / light_off_times (L,) float64 -- lighting pulse edges</a:t>
            </a:r>
          </a:p>
          <a:p>
            <a:pPr lvl="1">
              <a:spcBef>
                <a:spcPts val="400"/>
              </a:spcBef>
              <a:spcAft>
                <a:spcPts val="200"/>
              </a:spcAft>
            </a:pPr>
            <a:r>
              <a:rPr sz="1500" b="0" i="0">
                <a:solidFill>
                  <a:srgbClr val="333333"/>
                </a:solidFill>
                <a:latin typeface="Calibri"/>
              </a:rPr>
              <a:t>fps_camera, fps_imaging attributes</a:t>
            </a:r>
          </a:p>
          <a:p>
            <a:pPr>
              <a:spcBef>
                <a:spcPts val="400"/>
              </a:spcBef>
              <a:spcAft>
                <a:spcPts val="200"/>
              </a:spcAft>
            </a:pPr>
            <a:r>
              <a:rPr sz="1500" b="1" i="0">
                <a:solidFill>
                  <a:srgbClr val="1F4E79"/>
                </a:solidFill>
                <a:latin typeface="Calibri"/>
              </a:rPr>
              <a:t>Validation:</a:t>
            </a:r>
            <a:r>
              <a:rPr sz="1500" b="0" i="0">
                <a:solidFill>
                  <a:srgbClr val="333333"/>
                </a:solidFill>
                <a:latin typeface="Calibri"/>
              </a:rPr>
              <a:t> ingest/validate.py checks raw file completeness</a:t>
            </a:r>
          </a:p>
          <a:p>
            <a:pPr>
              <a:spcBef>
                <a:spcPts val="400"/>
              </a:spcBef>
              <a:spcAft>
                <a:spcPts val="200"/>
              </a:spcAft>
            </a:pPr>
            <a:r>
              <a:rPr sz="1500" b="1" i="0">
                <a:solidFill>
                  <a:srgbClr val="1F4E79"/>
                </a:solidFill>
                <a:latin typeface="Calibri"/>
              </a:rPr>
              <a:t>Runner:</a:t>
            </a:r>
            <a:r>
              <a:rPr sz="1500" b="0" i="0">
                <a:solidFill>
                  <a:srgbClr val="333333"/>
                </a:solidFill>
                <a:latin typeface="Calibri"/>
              </a:rPr>
              <a:t> scripts/run_stage0_daq.py</a:t>
            </a:r>
          </a:p>
          <a:p>
            <a:pPr>
              <a:spcBef>
                <a:spcPts val="400"/>
              </a:spcBef>
              <a:spcAft>
                <a:spcPts val="200"/>
              </a:spcAft>
            </a:pPr>
            <a:r>
              <a:rPr sz="1500" b="1" i="0">
                <a:solidFill>
                  <a:srgbClr val="1F4E79"/>
                </a:solidFill>
                <a:latin typeface="Calibri"/>
              </a:rPr>
              <a:t>Status:</a:t>
            </a:r>
            <a:r>
              <a:rPr sz="1500" b="0" i="0">
                <a:solidFill>
                  <a:srgbClr val="333333"/>
                </a:solidFill>
                <a:latin typeface="Calibri"/>
              </a:rPr>
              <a:t> 26/26 sessions complete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Stage 1 -- Two-Photon Extraction</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400" b="1" i="0">
                <a:solidFill>
                  <a:srgbClr val="1F4E79"/>
                </a:solidFill>
                <a:latin typeface="Calibri"/>
              </a:rPr>
              <a:t>Default extractor:</a:t>
            </a:r>
            <a:r>
              <a:rPr sz="1400" b="0" i="0">
                <a:solidFill>
                  <a:srgbClr val="333333"/>
                </a:solidFill>
                <a:latin typeface="Calibri"/>
              </a:rPr>
              <a:t> Suite2p (Cellpose 3 anatomical prior, anatomical_only=2)</a:t>
            </a:r>
          </a:p>
          <a:p>
            <a:pPr>
              <a:spcBef>
                <a:spcPts val="400"/>
              </a:spcBef>
              <a:spcAft>
                <a:spcPts val="200"/>
              </a:spcAft>
            </a:pPr>
            <a:r>
              <a:rPr sz="1400" b="1" i="0">
                <a:solidFill>
                  <a:srgbClr val="1F4E79"/>
                </a:solidFill>
                <a:latin typeface="Calibri"/>
              </a:rPr>
              <a:t>Alternative:</a:t>
            </a:r>
            <a:r>
              <a:rPr sz="1400" b="0" i="0">
                <a:solidFill>
                  <a:srgbClr val="333333"/>
                </a:solidFill>
                <a:latin typeface="Calibri"/>
              </a:rPr>
              <a:t> CaImAn (CNMF-based) in extraction/caiman.py</a:t>
            </a:r>
          </a:p>
          <a:p>
            <a:pPr>
              <a:spcBef>
                <a:spcPts val="400"/>
              </a:spcBef>
              <a:spcAft>
                <a:spcPts val="200"/>
              </a:spcAft>
            </a:pPr>
            <a:r>
              <a:rPr sz="1400" b="1" i="0">
                <a:solidFill>
                  <a:srgbClr val="1F4E79"/>
                </a:solidFill>
                <a:latin typeface="Calibri"/>
              </a:rPr>
              <a:t>Unified API:</a:t>
            </a:r>
            <a:r>
              <a:rPr sz="1400" b="0" i="0">
                <a:solidFill>
                  <a:srgbClr val="333333"/>
                </a:solidFill>
                <a:latin typeface="Calibri"/>
              </a:rPr>
              <a:t> roiextractors -- seg.get_traces('raw'), get_roi_image_masks()</a:t>
            </a:r>
          </a:p>
          <a:p>
            <a:pPr>
              <a:spcBef>
                <a:spcPts val="400"/>
              </a:spcBef>
              <a:spcAft>
                <a:spcPts val="200"/>
              </a:spcAft>
            </a:pPr>
            <a:r>
              <a:rPr sz="1400" b="1" i="0">
                <a:solidFill>
                  <a:srgbClr val="1F4E79"/>
                </a:solidFill>
                <a:latin typeface="Calibri"/>
              </a:rPr>
              <a:t>Cellpose 3:</a:t>
            </a:r>
            <a:r>
              <a:rPr sz="1400" b="0" i="0">
                <a:solidFill>
                  <a:srgbClr val="333333"/>
                </a:solidFill>
                <a:latin typeface="Calibri"/>
              </a:rPr>
              <a:t> seeds ROI candidates from projections, biases toward compact somata</a:t>
            </a:r>
          </a:p>
          <a:p>
            <a:pPr>
              <a:spcBef>
                <a:spcPts val="400"/>
              </a:spcBef>
              <a:spcAft>
                <a:spcPts val="200"/>
              </a:spcAft>
            </a:pPr>
            <a:r>
              <a:rPr sz="1400" b="1" i="0">
                <a:solidFill>
                  <a:srgbClr val="1F4E79"/>
                </a:solidFill>
                <a:latin typeface="Calibri"/>
              </a:rPr>
              <a:t>Soma vs dendrite classification:</a:t>
            </a:r>
            <a:r>
              <a:rPr sz="1400" b="0" i="0">
                <a:solidFill>
                  <a:srgbClr val="333333"/>
                </a:solidFill>
                <a:latin typeface="Calibri"/>
              </a:rPr>
              <a:t> post-hoc from stat.npy shape statistics</a:t>
            </a:r>
          </a:p>
          <a:p>
            <a:pPr lvl="1">
              <a:spcBef>
                <a:spcPts val="400"/>
              </a:spcBef>
              <a:spcAft>
                <a:spcPts val="200"/>
              </a:spcAft>
            </a:pPr>
            <a:r>
              <a:rPr sz="1400" b="0" i="0">
                <a:solidFill>
                  <a:srgbClr val="333333"/>
                </a:solidFill>
                <a:latin typeface="Calibri"/>
              </a:rPr>
              <a:t>extraction/soma_features.py -- per-ROI feature extraction</a:t>
            </a:r>
          </a:p>
          <a:p>
            <a:pPr lvl="1">
              <a:spcBef>
                <a:spcPts val="400"/>
              </a:spcBef>
              <a:spcAft>
                <a:spcPts val="200"/>
              </a:spcAft>
            </a:pPr>
            <a:r>
              <a:rPr sz="1400" b="0" i="0">
                <a:solidFill>
                  <a:srgbClr val="333333"/>
                </a:solidFill>
                <a:latin typeface="Calibri"/>
              </a:rPr>
              <a:t>extraction/soma_classifier.py -- rule-based scorer or logistic regression</a:t>
            </a:r>
          </a:p>
          <a:p>
            <a:pPr lvl="1">
              <a:spcBef>
                <a:spcPts val="400"/>
              </a:spcBef>
              <a:spcAft>
                <a:spcPts val="200"/>
              </a:spcAft>
            </a:pPr>
            <a:r>
              <a:rPr sz="1400" b="1" i="0">
                <a:solidFill>
                  <a:srgbClr val="1F4E79"/>
                </a:solidFill>
                <a:latin typeface="Calibri"/>
              </a:rPr>
              <a:t>Output:</a:t>
            </a:r>
            <a:r>
              <a:rPr sz="1400" b="0" i="0">
                <a:solidFill>
                  <a:srgbClr val="333333"/>
                </a:solidFill>
                <a:latin typeface="Calibri"/>
              </a:rPr>
              <a:t> roi_types (0=soma, 1=dendrite, 2=artefact) + calibrated probabilities</a:t>
            </a:r>
          </a:p>
          <a:p>
            <a:pPr>
              <a:spcBef>
                <a:spcPts val="400"/>
              </a:spcBef>
              <a:spcAft>
                <a:spcPts val="200"/>
              </a:spcAft>
            </a:pPr>
            <a:r>
              <a:rPr sz="1400" b="1" i="0">
                <a:solidFill>
                  <a:srgbClr val="1F4E79"/>
                </a:solidFill>
                <a:latin typeface="Calibri"/>
              </a:rPr>
              <a:t>Manual ROI curation:</a:t>
            </a:r>
            <a:r>
              <a:rPr sz="1400" b="0" i="0">
                <a:solidFill>
                  <a:srgbClr val="333333"/>
                </a:solidFill>
                <a:latin typeface="Calibri"/>
              </a:rPr>
              <a:t> extraction/curation.py -- append-only label CSV</a:t>
            </a:r>
          </a:p>
          <a:p>
            <a:pPr>
              <a:spcBef>
                <a:spcPts val="400"/>
              </a:spcBef>
              <a:spcAft>
                <a:spcPts val="200"/>
              </a:spcAft>
            </a:pPr>
            <a:r>
              <a:rPr sz="1400" b="1" i="0">
                <a:solidFill>
                  <a:srgbClr val="1F4E79"/>
                </a:solidFill>
                <a:latin typeface="Calibri"/>
              </a:rPr>
              <a:t>Z-drift:</a:t>
            </a:r>
            <a:r>
              <a:rPr sz="1400" b="0" i="0">
                <a:solidFill>
                  <a:srgbClr val="333333"/>
                </a:solidFill>
                <a:latin typeface="Calibri"/>
              </a:rPr>
              <a:t> extraction/zdrift.py -- register imaging frames against z-stacks</a:t>
            </a:r>
          </a:p>
          <a:p>
            <a:pPr>
              <a:spcBef>
                <a:spcPts val="400"/>
              </a:spcBef>
              <a:spcAft>
                <a:spcPts val="200"/>
              </a:spcAft>
            </a:pPr>
            <a:r>
              <a:rPr sz="1400" b="1" i="0">
                <a:solidFill>
                  <a:srgbClr val="1F4E79"/>
                </a:solidFill>
                <a:latin typeface="Calibri"/>
              </a:rPr>
              <a:t>Status:</a:t>
            </a:r>
            <a:r>
              <a:rPr sz="1400" b="0" i="0">
                <a:solidFill>
                  <a:srgbClr val="333333"/>
                </a:solidFill>
                <a:latin typeface="Calibri"/>
              </a:rPr>
              <a:t> 26/26 sessions processed on EC2 g4dn.xlarge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Stage 2 -- DLC Pose Tracking</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400" b="1" i="0">
                <a:solidFill>
                  <a:srgbClr val="1F4E79"/>
                </a:solidFill>
                <a:latin typeface="Calibri"/>
              </a:rPr>
              <a:t>Model:</a:t>
            </a:r>
            <a:r>
              <a:rPr sz="1400" b="0" i="0">
                <a:solidFill>
                  <a:srgbClr val="333333"/>
                </a:solidFill>
                <a:latin typeface="Calibri"/>
              </a:rPr>
              <a:t> DLC 3.0 (PyTorch) + SuperAnimal TopViewMouse + HRNet-W32 + FasterRCNN</a:t>
            </a:r>
          </a:p>
          <a:p>
            <a:pPr>
              <a:spcBef>
                <a:spcPts val="400"/>
              </a:spcBef>
              <a:spcAft>
                <a:spcPts val="200"/>
              </a:spcAft>
            </a:pPr>
            <a:r>
              <a:rPr sz="1400" b="1" i="0">
                <a:solidFill>
                  <a:srgbClr val="1F4E79"/>
                </a:solidFill>
                <a:latin typeface="Calibri"/>
              </a:rPr>
              <a:t>8 bodyparts:</a:t>
            </a:r>
            <a:r>
              <a:rPr sz="1400" b="0" i="0">
                <a:solidFill>
                  <a:srgbClr val="333333"/>
                </a:solidFill>
                <a:latin typeface="Calibri"/>
              </a:rPr>
              <a:t> nose_tip, left_ear, right_ear, head_midpoint, neck, mid_back, mouse_center, tail_base</a:t>
            </a:r>
          </a:p>
          <a:p>
            <a:pPr lvl="1">
              <a:spcBef>
                <a:spcPts val="400"/>
              </a:spcBef>
              <a:spcAft>
                <a:spcPts val="200"/>
              </a:spcAft>
            </a:pPr>
            <a:r>
              <a:rPr sz="1400" b="0" i="0">
                <a:solidFill>
                  <a:srgbClr val="333333"/>
                </a:solidFill>
                <a:latin typeface="Calibri"/>
              </a:rPr>
              <a:t>head_midpoint is a custom keypoint (high-contrast 2P headstage)</a:t>
            </a:r>
          </a:p>
          <a:p>
            <a:pPr>
              <a:spcBef>
                <a:spcPts val="400"/>
              </a:spcBef>
              <a:spcAft>
                <a:spcPts val="200"/>
              </a:spcAft>
            </a:pPr>
            <a:r>
              <a:rPr sz="1400" b="1" i="0">
                <a:solidFill>
                  <a:srgbClr val="1F4E79"/>
                </a:solidFill>
                <a:latin typeface="Calibri"/>
              </a:rPr>
              <a:t>Stage 2a -- Training (GPU, 24h max):</a:t>
            </a:r>
          </a:p>
          <a:p>
            <a:pPr lvl="1">
              <a:spcBef>
                <a:spcPts val="400"/>
              </a:spcBef>
              <a:spcAft>
                <a:spcPts val="200"/>
              </a:spcAft>
            </a:pPr>
            <a:r>
              <a:rPr sz="1400" b="0" i="0">
                <a:solidFill>
                  <a:srgbClr val="333333"/>
                </a:solidFill>
                <a:latin typeface="Calibri"/>
              </a:rPr>
              <a:t>Fine-tune SuperAnimal on 183 manually labeled frames</a:t>
            </a:r>
          </a:p>
          <a:p>
            <a:pPr lvl="1">
              <a:spcBef>
                <a:spcPts val="400"/>
              </a:spcBef>
              <a:spcAft>
                <a:spcPts val="200"/>
              </a:spcAft>
            </a:pPr>
            <a:r>
              <a:rPr sz="1400" b="1" i="0">
                <a:solidFill>
                  <a:srgbClr val="1F4E79"/>
                </a:solidFill>
                <a:latin typeface="Calibri"/>
              </a:rPr>
              <a:t>EC2 launch:</a:t>
            </a:r>
            <a:r>
              <a:rPr sz="1400" b="0" i="0">
                <a:solidFill>
                  <a:srgbClr val="333333"/>
                </a:solidFill>
                <a:latin typeface="Calibri"/>
              </a:rPr>
              <a:t> scripts/launch_dlc_finetune_ec2.py</a:t>
            </a:r>
          </a:p>
          <a:p>
            <a:pPr lvl="1">
              <a:spcBef>
                <a:spcPts val="400"/>
              </a:spcBef>
              <a:spcAft>
                <a:spcPts val="200"/>
              </a:spcAft>
            </a:pPr>
            <a:r>
              <a:rPr sz="1400" b="0" i="0">
                <a:solidFill>
                  <a:srgbClr val="333333"/>
                </a:solidFill>
                <a:latin typeface="Calibri"/>
              </a:rPr>
              <a:t>W&amp;B logging for training metrics</a:t>
            </a:r>
          </a:p>
          <a:p>
            <a:pPr>
              <a:spcBef>
                <a:spcPts val="400"/>
              </a:spcBef>
              <a:spcAft>
                <a:spcPts val="200"/>
              </a:spcAft>
            </a:pPr>
            <a:r>
              <a:rPr sz="1400" b="1" i="0">
                <a:solidFill>
                  <a:srgbClr val="1F4E79"/>
                </a:solidFill>
                <a:latin typeface="Calibri"/>
              </a:rPr>
              <a:t>Stage 2b -- Inference (GPU):</a:t>
            </a:r>
          </a:p>
          <a:p>
            <a:pPr lvl="1">
              <a:spcBef>
                <a:spcPts val="400"/>
              </a:spcBef>
              <a:spcAft>
                <a:spcPts val="200"/>
              </a:spcAft>
            </a:pPr>
            <a:r>
              <a:rPr sz="1400" b="0" i="0">
                <a:solidFill>
                  <a:srgbClr val="333333"/>
                </a:solidFill>
                <a:latin typeface="Calibri"/>
              </a:rPr>
              <a:t>deeplabcut.analyze_videos() on all 26 sessions</a:t>
            </a:r>
          </a:p>
          <a:p>
            <a:pPr lvl="1">
              <a:spcBef>
                <a:spcPts val="400"/>
              </a:spcBef>
              <a:spcAft>
                <a:spcPts val="200"/>
              </a:spcAft>
            </a:pPr>
            <a:r>
              <a:rPr sz="1400" b="1" i="0">
                <a:solidFill>
                  <a:srgbClr val="1F4E79"/>
                </a:solidFill>
                <a:latin typeface="Calibri"/>
              </a:rPr>
              <a:t>Output:</a:t>
            </a:r>
            <a:r>
              <a:rPr sz="1400" b="0" i="0">
                <a:solidFill>
                  <a:srgbClr val="333333"/>
                </a:solidFill>
                <a:latin typeface="Calibri"/>
              </a:rPr>
              <a:t> .h5 per session in derivatives/pose/{sub}/{ses}/</a:t>
            </a:r>
          </a:p>
          <a:p>
            <a:pPr>
              <a:spcBef>
                <a:spcPts val="400"/>
              </a:spcBef>
              <a:spcAft>
                <a:spcPts val="200"/>
              </a:spcAft>
            </a:pPr>
            <a:r>
              <a:rPr sz="1400" b="1" i="0">
                <a:solidFill>
                  <a:srgbClr val="1F4E79"/>
                </a:solidFill>
                <a:latin typeface="Calibri"/>
              </a:rPr>
              <a:t>Pluggable:</a:t>
            </a:r>
            <a:r>
              <a:rPr sz="1400" b="0" i="0">
                <a:solidFill>
                  <a:srgbClr val="333333"/>
                </a:solidFill>
                <a:latin typeface="Calibri"/>
              </a:rPr>
              <a:t> SLEAP and LightningPose also supported via movement</a:t>
            </a:r>
          </a:p>
          <a:p>
            <a:pPr>
              <a:spcBef>
                <a:spcPts val="400"/>
              </a:spcBef>
              <a:spcAft>
                <a:spcPts val="200"/>
              </a:spcAft>
            </a:pPr>
            <a:r>
              <a:rPr sz="1400" b="1" i="0">
                <a:solidFill>
                  <a:srgbClr val="1F4E79"/>
                </a:solidFill>
                <a:latin typeface="Calibri"/>
              </a:rPr>
              <a:t>Status:</a:t>
            </a:r>
            <a:r>
              <a:rPr sz="1400" b="0" i="0">
                <a:solidFill>
                  <a:srgbClr val="333333"/>
                </a:solidFill>
                <a:latin typeface="Calibri"/>
              </a:rPr>
              <a:t> 26/26 sessions complete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DLC Retraining Workflow</a:t>
            </a:r>
          </a:p>
        </p:txBody>
      </p:sp>
      <p:sp>
        <p:nvSpPr>
          <p:cNvPr id="3" name="Rounded Rectangle 2"/>
          <p:cNvSpPr/>
          <p:nvPr/>
        </p:nvSpPr>
        <p:spPr>
          <a:xfrm>
            <a:off x="3337560" y="1280160"/>
            <a:ext cx="2743200" cy="502920"/>
          </a:xfrm>
          <a:prstGeom prst="roundRect">
            <a:avLst/>
          </a:prstGeom>
          <a:solidFill>
            <a:srgbClr val="C0392B"/>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1. Identify Bad Frames</a:t>
            </a:r>
          </a:p>
          <a:p>
            <a:pPr algn="ctr"/>
            <a:r>
              <a:rPr sz="1100" b="1" i="0">
                <a:solidFill>
                  <a:srgbClr val="FFFFFF"/>
                </a:solidFill>
                <a:latin typeface="Calibri"/>
              </a:rPr>
              <a:t>Tracking QC page -&gt; export frame indices</a:t>
            </a:r>
          </a:p>
        </p:txBody>
      </p:sp>
      <p:cxnSp>
        <p:nvCxnSpPr>
          <p:cNvPr id="4" name="Connector 3"/>
          <p:cNvCxnSpPr/>
          <p:nvPr/>
        </p:nvCxnSpPr>
        <p:spPr>
          <a:xfrm>
            <a:off x="4709160" y="1783080"/>
            <a:ext cx="0" cy="1828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337560" y="1965960"/>
            <a:ext cx="2743200" cy="502920"/>
          </a:xfrm>
          <a:prstGeom prst="roundRect">
            <a:avLst/>
          </a:prstGeom>
          <a:solidFill>
            <a:srgbClr val="E07C24"/>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2. Extract &amp; Label</a:t>
            </a:r>
          </a:p>
          <a:p>
            <a:pPr algn="ctr"/>
            <a:r>
              <a:rPr sz="1100" b="1" i="0">
                <a:solidFill>
                  <a:srgbClr val="FFFFFF"/>
                </a:solidFill>
                <a:latin typeface="Calibri"/>
              </a:rPr>
              <a:t>Download video, extract PNGs, label in napari</a:t>
            </a:r>
          </a:p>
        </p:txBody>
      </p:sp>
      <p:cxnSp>
        <p:nvCxnSpPr>
          <p:cNvPr id="6" name="Connector 5"/>
          <p:cNvCxnSpPr/>
          <p:nvPr/>
        </p:nvCxnSpPr>
        <p:spPr>
          <a:xfrm>
            <a:off x="4709160" y="2468880"/>
            <a:ext cx="0" cy="1828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37560" y="2651760"/>
            <a:ext cx="2743200" cy="502920"/>
          </a:xfrm>
          <a:prstGeom prst="roundRect">
            <a:avLst/>
          </a:prstGeom>
          <a:solidFill>
            <a:srgbClr val="2E75B6"/>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3. Upload Labels</a:t>
            </a:r>
          </a:p>
          <a:p>
            <a:pPr algn="ctr"/>
            <a:r>
              <a:rPr sz="1100" b="1" i="0">
                <a:solidFill>
                  <a:srgbClr val="FFFFFF"/>
                </a:solidFill>
                <a:latin typeface="Calibri"/>
              </a:rPr>
              <a:t>scripts/upload_dlc_labels.py -&gt; S3</a:t>
            </a:r>
          </a:p>
        </p:txBody>
      </p:sp>
      <p:cxnSp>
        <p:nvCxnSpPr>
          <p:cNvPr id="8" name="Connector 7"/>
          <p:cNvCxnSpPr/>
          <p:nvPr/>
        </p:nvCxnSpPr>
        <p:spPr>
          <a:xfrm>
            <a:off x="4709160" y="3154680"/>
            <a:ext cx="0" cy="1828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37560" y="3337560"/>
            <a:ext cx="2743200" cy="50292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4. Train on EC2</a:t>
            </a:r>
          </a:p>
          <a:p>
            <a:pPr algn="ctr"/>
            <a:r>
              <a:rPr sz="1100" b="1" i="0">
                <a:solidFill>
                  <a:srgbClr val="FFFFFF"/>
                </a:solidFill>
                <a:latin typeface="Calibri"/>
              </a:rPr>
              <a:t>SA fine-tune, up to 50k iters (g4dn/g5)</a:t>
            </a:r>
          </a:p>
        </p:txBody>
      </p:sp>
      <p:cxnSp>
        <p:nvCxnSpPr>
          <p:cNvPr id="10" name="Connector 9"/>
          <p:cNvCxnSpPr/>
          <p:nvPr/>
        </p:nvCxnSpPr>
        <p:spPr>
          <a:xfrm>
            <a:off x="4709160" y="3840480"/>
            <a:ext cx="0" cy="1828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37560" y="4023360"/>
            <a:ext cx="2743200" cy="50292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5. Inference</a:t>
            </a:r>
          </a:p>
          <a:p>
            <a:pPr algn="ctr"/>
            <a:r>
              <a:rPr sz="1100" b="1" i="0">
                <a:solidFill>
                  <a:srgbClr val="FFFFFF"/>
                </a:solidFill>
                <a:latin typeface="Calibri"/>
              </a:rPr>
              <a:t>Re-run on all 26 sessions</a:t>
            </a:r>
          </a:p>
        </p:txBody>
      </p:sp>
      <p:cxnSp>
        <p:nvCxnSpPr>
          <p:cNvPr id="12" name="Connector 11"/>
          <p:cNvCxnSpPr/>
          <p:nvPr/>
        </p:nvCxnSpPr>
        <p:spPr>
          <a:xfrm>
            <a:off x="4709160" y="4526280"/>
            <a:ext cx="0" cy="1828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4709160"/>
            <a:ext cx="2743200" cy="502920"/>
          </a:xfrm>
          <a:prstGeom prst="roundRect">
            <a:avLst/>
          </a:prstGeom>
          <a:solidFill>
            <a:srgbClr val="1F4E79"/>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6. Declare Champion</a:t>
            </a:r>
          </a:p>
          <a:p>
            <a:pPr algn="ctr"/>
            <a:r>
              <a:rPr sz="1100" b="1" i="0">
                <a:solidFill>
                  <a:srgbClr val="FFFFFF"/>
                </a:solidFill>
                <a:latin typeface="Calibri"/>
              </a:rPr>
              <a:t>dlc-champion.json updated on S3</a:t>
            </a:r>
          </a:p>
        </p:txBody>
      </p:sp>
      <p:cxnSp>
        <p:nvCxnSpPr>
          <p:cNvPr id="14" name="Connector 13"/>
          <p:cNvCxnSpPr/>
          <p:nvPr/>
        </p:nvCxnSpPr>
        <p:spPr>
          <a:xfrm>
            <a:off x="4709160" y="5212080"/>
            <a:ext cx="0" cy="1828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37560" y="5394960"/>
            <a:ext cx="2743200" cy="502920"/>
          </a:xfrm>
          <a:prstGeom prst="roundRect">
            <a:avLst/>
          </a:prstGeom>
          <a:solidFill>
            <a:srgbClr val="E07C24"/>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7. Evaluate</a:t>
            </a:r>
          </a:p>
          <a:p>
            <a:pPr algn="ctr"/>
            <a:r>
              <a:rPr sz="1100" b="1" i="0">
                <a:solidFill>
                  <a:srgbClr val="FFFFFF"/>
                </a:solidFill>
                <a:latin typeface="Calibri"/>
              </a:rPr>
              <a:t>Compare fine-tuned vs previous in Tracking QC</a:t>
            </a:r>
          </a:p>
        </p:txBody>
      </p:sp>
      <p:cxnSp>
        <p:nvCxnSpPr>
          <p:cNvPr id="16" name="Connector 15"/>
          <p:cNvCxnSpPr/>
          <p:nvPr/>
        </p:nvCxnSpPr>
        <p:spPr>
          <a:xfrm>
            <a:off x="4709160" y="5897880"/>
            <a:ext cx="0" cy="1828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37560" y="6080760"/>
            <a:ext cx="2743200" cy="502920"/>
          </a:xfrm>
          <a:prstGeom prst="roundRect">
            <a:avLst/>
          </a:prstGeom>
          <a:solidFill>
            <a:srgbClr val="1F4E79"/>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8. Downstream</a:t>
            </a:r>
          </a:p>
          <a:p>
            <a:pPr algn="ctr"/>
            <a:r>
              <a:rPr sz="1100" b="1" i="0">
                <a:solidFill>
                  <a:srgbClr val="FFFFFF"/>
                </a:solidFill>
                <a:latin typeface="Calibri"/>
              </a:rPr>
              <a:t>Re-run Stages 3 -&gt; 3b -&gt; 5 -&gt; 6</a:t>
            </a:r>
          </a:p>
        </p:txBody>
      </p:sp>
      <p:sp>
        <p:nvSpPr>
          <p:cNvPr id="18" name="TextBox 17"/>
          <p:cNvSpPr txBox="1"/>
          <p:nvPr/>
        </p:nvSpPr>
        <p:spPr>
          <a:xfrm>
            <a:off x="914400" y="1355598"/>
            <a:ext cx="1188720" cy="274320"/>
          </a:xfrm>
          <a:prstGeom prst="rect">
            <a:avLst/>
          </a:prstGeom>
          <a:noFill/>
        </p:spPr>
        <p:txBody>
          <a:bodyPr wrap="none">
            <a:spAutoFit/>
          </a:bodyPr>
          <a:lstStyle/>
          <a:p>
            <a:pPr algn="r"/>
            <a:r>
              <a:rPr sz="1000" b="0" i="1">
                <a:solidFill>
                  <a:srgbClr val="666666"/>
                </a:solidFill>
                <a:latin typeface="Calibri"/>
              </a:rPr>
              <a:t>Mac</a:t>
            </a:r>
          </a:p>
        </p:txBody>
      </p:sp>
      <p:sp>
        <p:nvSpPr>
          <p:cNvPr id="19" name="TextBox 18"/>
          <p:cNvSpPr txBox="1"/>
          <p:nvPr/>
        </p:nvSpPr>
        <p:spPr>
          <a:xfrm>
            <a:off x="914400" y="2041398"/>
            <a:ext cx="1188720" cy="274320"/>
          </a:xfrm>
          <a:prstGeom prst="rect">
            <a:avLst/>
          </a:prstGeom>
          <a:noFill/>
        </p:spPr>
        <p:txBody>
          <a:bodyPr wrap="none">
            <a:spAutoFit/>
          </a:bodyPr>
          <a:lstStyle/>
          <a:p>
            <a:pPr algn="r"/>
            <a:r>
              <a:rPr sz="1000" b="0" i="1">
                <a:solidFill>
                  <a:srgbClr val="666666"/>
                </a:solidFill>
                <a:latin typeface="Calibri"/>
              </a:rPr>
              <a:t>Mac</a:t>
            </a:r>
          </a:p>
        </p:txBody>
      </p:sp>
      <p:sp>
        <p:nvSpPr>
          <p:cNvPr id="20" name="TextBox 19"/>
          <p:cNvSpPr txBox="1"/>
          <p:nvPr/>
        </p:nvSpPr>
        <p:spPr>
          <a:xfrm>
            <a:off x="914400" y="2727198"/>
            <a:ext cx="1188720" cy="274320"/>
          </a:xfrm>
          <a:prstGeom prst="rect">
            <a:avLst/>
          </a:prstGeom>
          <a:noFill/>
        </p:spPr>
        <p:txBody>
          <a:bodyPr wrap="none">
            <a:spAutoFit/>
          </a:bodyPr>
          <a:lstStyle/>
          <a:p>
            <a:pPr algn="r"/>
            <a:r>
              <a:rPr sz="1000" b="0" i="1">
                <a:solidFill>
                  <a:srgbClr val="666666"/>
                </a:solidFill>
                <a:latin typeface="Calibri"/>
              </a:rPr>
              <a:t>EC2 GPU</a:t>
            </a:r>
          </a:p>
        </p:txBody>
      </p:sp>
      <p:sp>
        <p:nvSpPr>
          <p:cNvPr id="21" name="TextBox 20"/>
          <p:cNvSpPr txBox="1"/>
          <p:nvPr/>
        </p:nvSpPr>
        <p:spPr>
          <a:xfrm>
            <a:off x="914400" y="3412998"/>
            <a:ext cx="1188720" cy="274320"/>
          </a:xfrm>
          <a:prstGeom prst="rect">
            <a:avLst/>
          </a:prstGeom>
          <a:noFill/>
        </p:spPr>
        <p:txBody>
          <a:bodyPr wrap="none">
            <a:spAutoFit/>
          </a:bodyPr>
          <a:lstStyle/>
          <a:p>
            <a:pPr algn="r"/>
            <a:r>
              <a:rPr sz="1000" b="0" i="1">
                <a:solidFill>
                  <a:srgbClr val="666666"/>
                </a:solidFill>
                <a:latin typeface="Calibri"/>
              </a:rPr>
              <a:t>EC2 GPU</a:t>
            </a:r>
          </a:p>
        </p:txBody>
      </p:sp>
      <p:sp>
        <p:nvSpPr>
          <p:cNvPr id="22" name="TextBox 21"/>
          <p:cNvSpPr txBox="1"/>
          <p:nvPr/>
        </p:nvSpPr>
        <p:spPr>
          <a:xfrm>
            <a:off x="914400" y="4098798"/>
            <a:ext cx="1188720" cy="274320"/>
          </a:xfrm>
          <a:prstGeom prst="rect">
            <a:avLst/>
          </a:prstGeom>
          <a:noFill/>
        </p:spPr>
        <p:txBody>
          <a:bodyPr wrap="none">
            <a:spAutoFit/>
          </a:bodyPr>
          <a:lstStyle/>
          <a:p>
            <a:pPr algn="r"/>
            <a:r>
              <a:rPr sz="1000" b="0" i="1">
                <a:solidFill>
                  <a:srgbClr val="666666"/>
                </a:solidFill>
                <a:latin typeface="Calibri"/>
              </a:rPr>
              <a:t>S3</a:t>
            </a:r>
          </a:p>
        </p:txBody>
      </p:sp>
      <p:sp>
        <p:nvSpPr>
          <p:cNvPr id="23" name="TextBox 22"/>
          <p:cNvSpPr txBox="1"/>
          <p:nvPr/>
        </p:nvSpPr>
        <p:spPr>
          <a:xfrm>
            <a:off x="914400" y="4784598"/>
            <a:ext cx="1188720" cy="274320"/>
          </a:xfrm>
          <a:prstGeom prst="rect">
            <a:avLst/>
          </a:prstGeom>
          <a:noFill/>
        </p:spPr>
        <p:txBody>
          <a:bodyPr wrap="none">
            <a:spAutoFit/>
          </a:bodyPr>
          <a:lstStyle/>
          <a:p>
            <a:pPr algn="r"/>
            <a:r>
              <a:rPr sz="1000" b="0" i="1">
                <a:solidFill>
                  <a:srgbClr val="666666"/>
                </a:solidFill>
                <a:latin typeface="Calibri"/>
              </a:rPr>
              <a:t>Frontend</a:t>
            </a:r>
          </a:p>
        </p:txBody>
      </p:sp>
      <p:sp>
        <p:nvSpPr>
          <p:cNvPr id="24" name="TextBox 23"/>
          <p:cNvSpPr txBox="1"/>
          <p:nvPr/>
        </p:nvSpPr>
        <p:spPr>
          <a:xfrm>
            <a:off x="914400" y="5470398"/>
            <a:ext cx="1188720" cy="274320"/>
          </a:xfrm>
          <a:prstGeom prst="rect">
            <a:avLst/>
          </a:prstGeom>
          <a:noFill/>
        </p:spPr>
        <p:txBody>
          <a:bodyPr wrap="none">
            <a:spAutoFit/>
          </a:bodyPr>
          <a:lstStyle/>
          <a:p>
            <a:pPr algn="r"/>
            <a:r>
              <a:rPr sz="1000" b="0" i="1">
                <a:solidFill>
                  <a:srgbClr val="666666"/>
                </a:solidFill>
                <a:latin typeface="Calibri"/>
              </a:rPr>
              <a:t>Mac/EC2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DLC Champion Model System</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400" b="1" i="0">
                <a:solidFill>
                  <a:srgbClr val="1F4E79"/>
                </a:solidFill>
                <a:latin typeface="Calibri"/>
              </a:rPr>
              <a:t>Single source of truth:</a:t>
            </a:r>
            <a:r>
              <a:rPr sz="1400" b="0" i="0">
                <a:solidFill>
                  <a:srgbClr val="333333"/>
                </a:solidFill>
                <a:latin typeface="Calibri"/>
              </a:rPr>
              <a:t> s3://hm2p-derivatives/dlc-champion.json</a:t>
            </a:r>
          </a:p>
          <a:p>
            <a:pPr lvl="1">
              <a:spcBef>
                <a:spcPts val="400"/>
              </a:spcBef>
              <a:spcAft>
                <a:spcPts val="200"/>
              </a:spcAft>
            </a:pPr>
            <a:r>
              <a:rPr sz="1400" b="1" i="0">
                <a:solidFill>
                  <a:srgbClr val="1F4E79"/>
                </a:solidFill>
                <a:latin typeface="Calibri"/>
              </a:rPr>
              <a:t>Contains:</a:t>
            </a:r>
            <a:r>
              <a:rPr sz="1400" b="0" i="0">
                <a:solidFill>
                  <a:srgbClr val="333333"/>
                </a:solidFill>
                <a:latin typeface="Calibri"/>
              </a:rPr>
              <a:t> champion_id (deterministic hash), model_name, architecture, snapshot</a:t>
            </a:r>
          </a:p>
          <a:p>
            <a:pPr>
              <a:spcBef>
                <a:spcPts val="400"/>
              </a:spcBef>
              <a:spcAft>
                <a:spcPts val="200"/>
              </a:spcAft>
            </a:pPr>
            <a:r>
              <a:rPr sz="1400" b="1" i="0">
                <a:solidFill>
                  <a:srgbClr val="1F4E79"/>
                </a:solidFill>
                <a:latin typeface="Calibri"/>
              </a:rPr>
              <a:t>Provenance chain:</a:t>
            </a:r>
            <a:r>
              <a:rPr sz="1400" b="0" i="0">
                <a:solidFill>
                  <a:srgbClr val="333333"/>
                </a:solidFill>
                <a:latin typeface="Calibri"/>
              </a:rPr>
              <a:t> every DLC-derived file stamps dlc_champion_id as HDF5 attribute</a:t>
            </a:r>
          </a:p>
          <a:p>
            <a:pPr lvl="1">
              <a:spcBef>
                <a:spcPts val="400"/>
              </a:spcBef>
              <a:spcAft>
                <a:spcPts val="200"/>
              </a:spcAft>
            </a:pPr>
            <a:r>
              <a:rPr sz="1400" b="0" i="0">
                <a:solidFill>
                  <a:srgbClr val="333333"/>
                </a:solidFill>
                <a:latin typeface="Calibri"/>
              </a:rPr>
              <a:t>kinematics.h5 -&gt; sync.h5 -&gt; analysis.h5 (inherited through pipeline)</a:t>
            </a:r>
          </a:p>
          <a:p>
            <a:pPr lvl="1">
              <a:spcBef>
                <a:spcPts val="400"/>
              </a:spcBef>
              <a:spcAft>
                <a:spcPts val="200"/>
              </a:spcAft>
            </a:pPr>
            <a:r>
              <a:rPr sz="1400" b="0" i="0">
                <a:solidFill>
                  <a:srgbClr val="333333"/>
                </a:solidFill>
                <a:latin typeface="Calibri"/>
              </a:rPr>
              <a:t>Rendered videos get a .provenance.json sidecar</a:t>
            </a:r>
          </a:p>
          <a:p>
            <a:pPr>
              <a:spcBef>
                <a:spcPts val="400"/>
              </a:spcBef>
              <a:spcAft>
                <a:spcPts val="200"/>
              </a:spcAft>
            </a:pPr>
            <a:r>
              <a:rPr sz="1400" b="1" i="0">
                <a:solidFill>
                  <a:srgbClr val="1F4E79"/>
                </a:solidFill>
                <a:latin typeface="Calibri"/>
              </a:rPr>
              <a:t>Frontend enforcement:</a:t>
            </a:r>
          </a:p>
          <a:p>
            <a:pPr lvl="1">
              <a:spcBef>
                <a:spcPts val="400"/>
              </a:spcBef>
              <a:spcAft>
                <a:spcPts val="200"/>
              </a:spcAft>
            </a:pPr>
            <a:r>
              <a:rPr sz="1400" b="0" i="0">
                <a:solidFill>
                  <a:srgbClr val="333333"/>
                </a:solidFill>
                <a:latin typeface="Calibri"/>
              </a:rPr>
              <a:t>get_dlc_champion() -- loads manifest (cached 300s)</a:t>
            </a:r>
          </a:p>
          <a:p>
            <a:pPr lvl="1">
              <a:spcBef>
                <a:spcPts val="400"/>
              </a:spcBef>
              <a:spcAft>
                <a:spcPts val="200"/>
              </a:spcAft>
            </a:pPr>
            <a:r>
              <a:rPr sz="1400" b="0" i="0">
                <a:solidFill>
                  <a:srgbClr val="333333"/>
                </a:solidFill>
                <a:latin typeface="Calibri"/>
              </a:rPr>
              <a:t>is_session_current() -- compares stored vs current champion_id</a:t>
            </a:r>
          </a:p>
          <a:p>
            <a:pPr lvl="1">
              <a:spcBef>
                <a:spcPts val="400"/>
              </a:spcBef>
              <a:spcAft>
                <a:spcPts val="200"/>
              </a:spcAft>
            </a:pPr>
            <a:r>
              <a:rPr sz="1400" b="0" i="0">
                <a:solidFill>
                  <a:srgbClr val="333333"/>
                </a:solidFill>
                <a:latin typeface="Calibri"/>
              </a:rPr>
              <a:t>render_champion_staleness_warning() -- shared banner on all DLC-dependent pages</a:t>
            </a:r>
          </a:p>
          <a:p>
            <a:pPr lvl="1">
              <a:spcBef>
                <a:spcPts val="400"/>
              </a:spcBef>
              <a:spcAft>
                <a:spcPts val="200"/>
              </a:spcAft>
            </a:pPr>
            <a:r>
              <a:rPr sz="1400" b="0" i="0">
                <a:solidFill>
                  <a:srgbClr val="333333"/>
                </a:solidFill>
                <a:latin typeface="Calibri"/>
              </a:rPr>
              <a:t>Stale data is warned, never hidden -- QC must remain possible</a:t>
            </a:r>
          </a:p>
          <a:p>
            <a:pPr>
              <a:spcBef>
                <a:spcPts val="400"/>
              </a:spcBef>
              <a:spcAft>
                <a:spcPts val="200"/>
              </a:spcAft>
            </a:pPr>
            <a:r>
              <a:rPr sz="1400" b="1" i="0">
                <a:solidFill>
                  <a:srgbClr val="1F4E79"/>
                </a:solidFill>
                <a:latin typeface="Calibri"/>
              </a:rPr>
              <a:t>History:</a:t>
            </a:r>
            <a:r>
              <a:rPr sz="1400" b="0" i="0">
                <a:solidFill>
                  <a:srgbClr val="333333"/>
                </a:solidFill>
                <a:latin typeface="Calibri"/>
              </a:rPr>
              <a:t> superseded champions archived to dlc-champion-history/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Stage 3 -- Kinematics</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300" b="1" i="0">
                <a:solidFill>
                  <a:srgbClr val="1F4E79"/>
                </a:solidFill>
                <a:latin typeface="Calibri"/>
              </a:rPr>
              <a:t>Input:</a:t>
            </a:r>
            <a:r>
              <a:rPr sz="1300" b="0" i="0">
                <a:solidFill>
                  <a:srgbClr val="333333"/>
                </a:solidFill>
                <a:latin typeface="Calibri"/>
              </a:rPr>
              <a:t> Pose .h5 from Stage 2 (any tracker format)</a:t>
            </a:r>
          </a:p>
          <a:p>
            <a:pPr>
              <a:spcBef>
                <a:spcPts val="400"/>
              </a:spcBef>
              <a:spcAft>
                <a:spcPts val="200"/>
              </a:spcAft>
            </a:pPr>
            <a:r>
              <a:rPr sz="1300" b="1" i="0">
                <a:solidFill>
                  <a:srgbClr val="1F4E79"/>
                </a:solidFill>
                <a:latin typeface="Calibri"/>
              </a:rPr>
              <a:t>Loader:</a:t>
            </a:r>
            <a:r>
              <a:rPr sz="1300" b="0" i="0">
                <a:solidFill>
                  <a:srgbClr val="333333"/>
                </a:solidFill>
                <a:latin typeface="Calibri"/>
              </a:rPr>
              <a:t> movement.io.load_poses.from_file() -- tracker-agnostic xarray.Dataset</a:t>
            </a:r>
          </a:p>
          <a:p>
            <a:pPr>
              <a:spcBef>
                <a:spcPts val="400"/>
              </a:spcBef>
              <a:spcAft>
                <a:spcPts val="200"/>
              </a:spcAft>
            </a:pPr>
            <a:r>
              <a:rPr sz="1300" b="1" i="0">
                <a:solidFill>
                  <a:srgbClr val="1F4E79"/>
                </a:solidFill>
                <a:latin typeface="Calibri"/>
              </a:rPr>
              <a:t>Processing pipeline (kinematics/compute.py):</a:t>
            </a:r>
          </a:p>
          <a:p>
            <a:pPr lvl="1">
              <a:spcBef>
                <a:spcPts val="400"/>
              </a:spcBef>
              <a:spcAft>
                <a:spcPts val="200"/>
              </a:spcAft>
            </a:pPr>
            <a:r>
              <a:rPr sz="1300" b="0" i="0">
                <a:solidFill>
                  <a:srgbClr val="333333"/>
                </a:solidFill>
                <a:latin typeface="Calibri"/>
              </a:rPr>
              <a:t>1. Apply per-session orientation rotation (from experiments.csv)</a:t>
            </a:r>
          </a:p>
          <a:p>
            <a:pPr lvl="1">
              <a:spcBef>
                <a:spcPts val="400"/>
              </a:spcBef>
              <a:spcAft>
                <a:spcPts val="200"/>
              </a:spcAft>
            </a:pPr>
            <a:r>
              <a:rPr sz="1300" b="0" i="0">
                <a:solidFill>
                  <a:srgbClr val="333333"/>
                </a:solidFill>
                <a:latin typeface="Calibri"/>
              </a:rPr>
              <a:t>2. Rename SuperAnimal bodypart names to project names</a:t>
            </a:r>
          </a:p>
          <a:p>
            <a:pPr lvl="1">
              <a:spcBef>
                <a:spcPts val="400"/>
              </a:spcBef>
              <a:spcAft>
                <a:spcPts val="200"/>
              </a:spcAft>
            </a:pPr>
            <a:r>
              <a:rPr sz="1300" b="0" i="0">
                <a:solidFill>
                  <a:srgbClr val="333333"/>
                </a:solidFill>
                <a:latin typeface="Calibri"/>
              </a:rPr>
              <a:t>3. Filter low-confidence detections (&lt; 0.9 -&gt; NaN)</a:t>
            </a:r>
          </a:p>
          <a:p>
            <a:pPr lvl="1">
              <a:spcBef>
                <a:spcPts val="400"/>
              </a:spcBef>
              <a:spcAft>
                <a:spcPts val="200"/>
              </a:spcAft>
            </a:pPr>
            <a:r>
              <a:rPr sz="1300" b="0" i="0">
                <a:solidFill>
                  <a:srgbClr val="333333"/>
                </a:solidFill>
                <a:latin typeface="Calibri"/>
              </a:rPr>
              <a:t>4. Interpolate short gaps (up to 5 frames) and smooth</a:t>
            </a:r>
          </a:p>
          <a:p>
            <a:pPr lvl="1">
              <a:spcBef>
                <a:spcPts val="400"/>
              </a:spcBef>
              <a:spcAft>
                <a:spcPts val="200"/>
              </a:spcAft>
            </a:pPr>
            <a:r>
              <a:rPr sz="1300" b="0" i="0">
                <a:solidFill>
                  <a:srgbClr val="333333"/>
                </a:solidFill>
                <a:latin typeface="Calibri"/>
              </a:rPr>
              <a:t>5. Compute HD from ear vector + 3 QC vectors, fuse with confidence weighting</a:t>
            </a:r>
          </a:p>
          <a:p>
            <a:pPr lvl="1">
              <a:spcBef>
                <a:spcPts val="400"/>
              </a:spcBef>
              <a:spcAft>
                <a:spcPts val="200"/>
              </a:spcAft>
            </a:pPr>
            <a:r>
              <a:rPr sz="1300" b="0" i="0">
                <a:solidFill>
                  <a:srgbClr val="333333"/>
                </a:solidFill>
                <a:latin typeface="Calibri"/>
              </a:rPr>
              <a:t>6. Compute position (mm), speed (cm/s), AHV (deg/s), movement state</a:t>
            </a:r>
          </a:p>
          <a:p>
            <a:pPr lvl="1">
              <a:spcBef>
                <a:spcPts val="400"/>
              </a:spcBef>
              <a:spcAft>
                <a:spcPts val="200"/>
              </a:spcAft>
            </a:pPr>
            <a:r>
              <a:rPr sz="1300" b="0" i="0">
                <a:solidFill>
                  <a:srgbClr val="333333"/>
                </a:solidFill>
                <a:latin typeface="Calibri"/>
              </a:rPr>
              <a:t>7. Align light on/off from timestamps.h5; apply bad_behav mask</a:t>
            </a:r>
          </a:p>
          <a:p>
            <a:pPr lvl="1">
              <a:spcBef>
                <a:spcPts val="400"/>
              </a:spcBef>
              <a:spcAft>
                <a:spcPts val="200"/>
              </a:spcAft>
            </a:pPr>
            <a:r>
              <a:rPr sz="1300" b="0" i="0">
                <a:solidFill>
                  <a:srgbClr val="333333"/>
                </a:solidFill>
                <a:latin typeface="Calibri"/>
              </a:rPr>
              <a:t>8. Compute maze coordinates (7x5 grid) via Shapely polygon clipping</a:t>
            </a:r>
          </a:p>
          <a:p>
            <a:pPr>
              <a:spcBef>
                <a:spcPts val="400"/>
              </a:spcBef>
              <a:spcAft>
                <a:spcPts val="200"/>
              </a:spcAft>
            </a:pPr>
            <a:r>
              <a:rPr sz="1300" b="1" i="0">
                <a:solidFill>
                  <a:srgbClr val="1F4E79"/>
                </a:solidFill>
                <a:latin typeface="Calibri"/>
              </a:rPr>
              <a:t>Perspective correction:</a:t>
            </a:r>
            <a:r>
              <a:rPr sz="1300" b="0" i="0">
                <a:solidFill>
                  <a:srgbClr val="333333"/>
                </a:solidFill>
                <a:latin typeface="Calibri"/>
              </a:rPr>
              <a:t> kinematics/perspective.py -- ground-plane projection</a:t>
            </a:r>
          </a:p>
          <a:p>
            <a:pPr>
              <a:spcBef>
                <a:spcPts val="400"/>
              </a:spcBef>
              <a:spcAft>
                <a:spcPts val="200"/>
              </a:spcAft>
            </a:pPr>
            <a:r>
              <a:rPr sz="1300" b="1" i="0">
                <a:solidFill>
                  <a:srgbClr val="1F4E79"/>
                </a:solidFill>
                <a:latin typeface="Calibri"/>
              </a:rPr>
              <a:t>Output:</a:t>
            </a:r>
            <a:r>
              <a:rPr sz="1300" b="0" i="0">
                <a:solidFill>
                  <a:srgbClr val="333333"/>
                </a:solidFill>
                <a:latin typeface="Calibri"/>
              </a:rPr>
              <a:t> derivatives/movement/{sub}/{ses}/kinematics.h5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Stage 4 -- Calcium Processing</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300" b="1" i="0">
                <a:solidFill>
                  <a:srgbClr val="1F4E79"/>
                </a:solidFill>
                <a:latin typeface="Calibri"/>
              </a:rPr>
              <a:t>Input:</a:t>
            </a:r>
            <a:r>
              <a:rPr sz="1300" b="0" i="0">
                <a:solidFill>
                  <a:srgbClr val="333333"/>
                </a:solidFill>
                <a:latin typeface="Calibri"/>
              </a:rPr>
              <a:t> Suite2p/CaImAn native files (via roiextractors) + timestamps.h5</a:t>
            </a:r>
          </a:p>
          <a:p>
            <a:pPr>
              <a:spcBef>
                <a:spcPts val="400"/>
              </a:spcBef>
              <a:spcAft>
                <a:spcPts val="200"/>
              </a:spcAft>
            </a:pPr>
            <a:r>
              <a:rPr sz="1300" b="1" i="0">
                <a:solidFill>
                  <a:srgbClr val="1F4E79"/>
                </a:solidFill>
                <a:latin typeface="Calibri"/>
              </a:rPr>
              <a:t>Processing pipeline (calcium/run.py):</a:t>
            </a:r>
          </a:p>
          <a:p>
            <a:pPr lvl="1">
              <a:spcBef>
                <a:spcPts val="400"/>
              </a:spcBef>
              <a:spcAft>
                <a:spcPts val="200"/>
              </a:spcAft>
            </a:pPr>
            <a:r>
              <a:rPr sz="1300" b="1" i="0">
                <a:solidFill>
                  <a:srgbClr val="1F4E79"/>
                </a:solidFill>
                <a:latin typeface="Calibri"/>
              </a:rPr>
              <a:t>1. Neuropil subtraction:</a:t>
            </a:r>
            <a:r>
              <a:rPr sz="1300" b="0" i="0">
                <a:solidFill>
                  <a:srgbClr val="333333"/>
                </a:solidFill>
                <a:latin typeface="Calibri"/>
              </a:rPr>
              <a:t> F_corr = F - 0.7 * Fneu (fixed) or FISSA (spatial ICA)</a:t>
            </a:r>
          </a:p>
          <a:p>
            <a:pPr lvl="1">
              <a:spcBef>
                <a:spcPts val="400"/>
              </a:spcBef>
              <a:spcAft>
                <a:spcPts val="200"/>
              </a:spcAft>
            </a:pPr>
            <a:r>
              <a:rPr sz="1300" b="1" i="0">
                <a:solidFill>
                  <a:srgbClr val="1F4E79"/>
                </a:solidFill>
                <a:latin typeface="Calibri"/>
              </a:rPr>
              <a:t>2. Baseline &amp; dF/F0:</a:t>
            </a:r>
            <a:r>
              <a:rPr sz="1300" b="0" i="0">
                <a:solidFill>
                  <a:srgbClr val="333333"/>
                </a:solidFill>
                <a:latin typeface="Calibri"/>
              </a:rPr>
              <a:t> sliding window minimum of Gaussian-smoothed trace</a:t>
            </a:r>
          </a:p>
          <a:p>
            <a:pPr lvl="1">
              <a:spcBef>
                <a:spcPts val="400"/>
              </a:spcBef>
              <a:spcAft>
                <a:spcPts val="200"/>
              </a:spcAft>
            </a:pPr>
            <a:r>
              <a:rPr sz="1300" b="1" i="0">
                <a:solidFill>
                  <a:srgbClr val="1F4E79"/>
                </a:solidFill>
                <a:latin typeface="Calibri"/>
              </a:rPr>
              <a:t>3. Event detection:</a:t>
            </a:r>
            <a:r>
              <a:rPr sz="1300" b="0" i="0">
                <a:solidFill>
                  <a:srgbClr val="333333"/>
                </a:solidFill>
                <a:latin typeface="Calibri"/>
              </a:rPr>
              <a:t> V&amp;H 2020 threshold (primary), SD-threshold (Zong 2022)</a:t>
            </a:r>
          </a:p>
          <a:p>
            <a:pPr lvl="1">
              <a:spcBef>
                <a:spcPts val="400"/>
              </a:spcBef>
              <a:spcAft>
                <a:spcPts val="200"/>
              </a:spcAft>
            </a:pPr>
            <a:r>
              <a:rPr sz="1300" b="1" i="0">
                <a:solidFill>
                  <a:srgbClr val="1F4E79"/>
                </a:solidFill>
                <a:latin typeface="Calibri"/>
              </a:rPr>
              <a:t>4. CASCADE spike inference:</a:t>
            </a:r>
            <a:r>
              <a:rPr sz="1300" b="0" i="0">
                <a:solidFill>
                  <a:srgbClr val="333333"/>
                </a:solidFill>
                <a:latin typeface="Calibri"/>
              </a:rPr>
              <a:t> calibrated spikes/s from pre-trained deep-learning models</a:t>
            </a:r>
          </a:p>
          <a:p>
            <a:pPr lvl="1">
              <a:spcBef>
                <a:spcPts val="400"/>
              </a:spcBef>
              <a:spcAft>
                <a:spcPts val="200"/>
              </a:spcAft>
            </a:pPr>
            <a:r>
              <a:rPr sz="1300" b="1" i="0">
                <a:solidFill>
                  <a:srgbClr val="1F4E79"/>
                </a:solidFill>
                <a:latin typeface="Calibri"/>
              </a:rPr>
              <a:t>5. Per-ROI QC:</a:t>
            </a:r>
            <a:r>
              <a:rPr sz="1300" b="0" i="0">
                <a:solidFill>
                  <a:srgbClr val="333333"/>
                </a:solidFill>
                <a:latin typeface="Calibri"/>
              </a:rPr>
              <a:t> SNR, decay tau, neuropil correlation, bleach slope, active fraction</a:t>
            </a:r>
          </a:p>
          <a:p>
            <a:pPr>
              <a:spcBef>
                <a:spcPts val="400"/>
              </a:spcBef>
              <a:spcAft>
                <a:spcPts val="200"/>
              </a:spcAft>
            </a:pPr>
            <a:r>
              <a:rPr sz="1300" b="1" i="0">
                <a:solidFill>
                  <a:srgbClr val="1F4E79"/>
                </a:solidFill>
                <a:latin typeface="Calibri"/>
              </a:rPr>
              <a:t>Output:</a:t>
            </a:r>
            <a:r>
              <a:rPr sz="1300" b="0" i="0">
                <a:solidFill>
                  <a:srgbClr val="333333"/>
                </a:solidFill>
                <a:latin typeface="Calibri"/>
              </a:rPr>
              <a:t> derivatives/calcium/{sub}/{ses}/ca.h5</a:t>
            </a:r>
          </a:p>
          <a:p>
            <a:pPr lvl="1">
              <a:spcBef>
                <a:spcPts val="400"/>
              </a:spcBef>
              <a:spcAft>
                <a:spcPts val="200"/>
              </a:spcAft>
            </a:pPr>
            <a:r>
              <a:rPr sz="1300" b="0" i="0">
                <a:solidFill>
                  <a:srgbClr val="333333"/>
                </a:solidFill>
                <a:latin typeface="Calibri"/>
              </a:rPr>
              <a:t>dff (R, T) float32 -- dF/F0 per ROI</a:t>
            </a:r>
          </a:p>
          <a:p>
            <a:pPr lvl="1">
              <a:spcBef>
                <a:spcPts val="400"/>
              </a:spcBef>
              <a:spcAft>
                <a:spcPts val="200"/>
              </a:spcAft>
            </a:pPr>
            <a:r>
              <a:rPr sz="1300" b="0" i="0">
                <a:solidFill>
                  <a:srgbClr val="333333"/>
                </a:solidFill>
                <a:latin typeface="Calibri"/>
              </a:rPr>
              <a:t>spikes (R, T) float32 -- CASCADE spike rate (spikes/s)</a:t>
            </a:r>
          </a:p>
          <a:p>
            <a:pPr lvl="1">
              <a:spcBef>
                <a:spcPts val="400"/>
              </a:spcBef>
              <a:spcAft>
                <a:spcPts val="200"/>
              </a:spcAft>
            </a:pPr>
            <a:r>
              <a:rPr sz="1300" b="0" i="0">
                <a:solidFill>
                  <a:srgbClr val="333333"/>
                </a:solidFill>
                <a:latin typeface="Calibri"/>
              </a:rPr>
              <a:t>event_masks (R, T) float32 -- V&amp;H binary events</a:t>
            </a:r>
          </a:p>
          <a:p>
            <a:pPr lvl="1">
              <a:spcBef>
                <a:spcPts val="400"/>
              </a:spcBef>
              <a:spcAft>
                <a:spcPts val="200"/>
              </a:spcAft>
            </a:pPr>
            <a:r>
              <a:rPr sz="1300" b="0" i="0">
                <a:solidFill>
                  <a:srgbClr val="333333"/>
                </a:solidFill>
                <a:latin typeface="Calibri"/>
              </a:rPr>
              <a:t>roi_types (R,) uint8, snr (R,) float32</a:t>
            </a:r>
          </a:p>
          <a:p>
            <a:pPr>
              <a:spcBef>
                <a:spcPts val="400"/>
              </a:spcBef>
              <a:spcAft>
                <a:spcPts val="200"/>
              </a:spcAft>
            </a:pPr>
            <a:r>
              <a:rPr sz="1300" b="1" i="0">
                <a:solidFill>
                  <a:srgbClr val="1F4E79"/>
                </a:solidFill>
                <a:latin typeface="Calibri"/>
              </a:rPr>
              <a:t>Stage 4b:</a:t>
            </a:r>
            <a:r>
              <a:rPr sz="1300" b="0" i="0">
                <a:solidFill>
                  <a:srgbClr val="333333"/>
                </a:solidFill>
                <a:latin typeface="Calibri"/>
              </a:rPr>
              <a:t> CASCADE can be re-run independently without repeating neuropil/dF/F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Stage 5 -- Neural-Behavioural Synchronisation</a:t>
            </a:r>
          </a:p>
        </p:txBody>
      </p:sp>
      <p:sp>
        <p:nvSpPr>
          <p:cNvPr id="3" name="Rounded Rectangle 2"/>
          <p:cNvSpPr/>
          <p:nvPr/>
        </p:nvSpPr>
        <p:spPr>
          <a:xfrm>
            <a:off x="914400" y="1371600"/>
            <a:ext cx="2286000" cy="640080"/>
          </a:xfrm>
          <a:prstGeom prst="roundRect">
            <a:avLst/>
          </a:prstGeom>
          <a:solidFill>
            <a:srgbClr val="2E75B6"/>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300" b="1" i="0">
                <a:solidFill>
                  <a:srgbClr val="FFFFFF"/>
                </a:solidFill>
                <a:latin typeface="Calibri"/>
              </a:rPr>
              <a:t>kinematics.h5</a:t>
            </a:r>
          </a:p>
          <a:p>
            <a:pPr algn="ctr"/>
            <a:r>
              <a:rPr sz="1300" b="1" i="0">
                <a:solidFill>
                  <a:srgbClr val="FFFFFF"/>
                </a:solidFill>
                <a:latin typeface="Calibri"/>
              </a:rPr>
              <a:t>(~100 Hz)</a:t>
            </a:r>
          </a:p>
        </p:txBody>
      </p:sp>
      <p:sp>
        <p:nvSpPr>
          <p:cNvPr id="4" name="Rounded Rectangle 3"/>
          <p:cNvSpPr/>
          <p:nvPr/>
        </p:nvSpPr>
        <p:spPr>
          <a:xfrm>
            <a:off x="4937760" y="1371600"/>
            <a:ext cx="2286000" cy="64008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300" b="1" i="0">
                <a:solidFill>
                  <a:srgbClr val="FFFFFF"/>
                </a:solidFill>
                <a:latin typeface="Calibri"/>
              </a:rPr>
              <a:t>ca.h5</a:t>
            </a:r>
          </a:p>
          <a:p>
            <a:pPr algn="ctr"/>
            <a:r>
              <a:rPr sz="1300" b="1" i="0">
                <a:solidFill>
                  <a:srgbClr val="FFFFFF"/>
                </a:solidFill>
                <a:latin typeface="Calibri"/>
              </a:rPr>
              <a:t>(~9.6 Hz)</a:t>
            </a:r>
          </a:p>
        </p:txBody>
      </p:sp>
      <p:sp>
        <p:nvSpPr>
          <p:cNvPr id="5" name="Rounded Rectangle 4"/>
          <p:cNvSpPr/>
          <p:nvPr/>
        </p:nvSpPr>
        <p:spPr>
          <a:xfrm>
            <a:off x="8961120" y="1371600"/>
            <a:ext cx="2286000" cy="640080"/>
          </a:xfrm>
          <a:prstGeom prst="roundRect">
            <a:avLst/>
          </a:prstGeom>
          <a:solidFill>
            <a:srgbClr val="E07C24"/>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300" b="1" i="0">
                <a:solidFill>
                  <a:srgbClr val="FFFFFF"/>
                </a:solidFill>
                <a:latin typeface="Calibri"/>
              </a:rPr>
              <a:t>timestamps.h5</a:t>
            </a:r>
          </a:p>
          <a:p>
            <a:pPr algn="ctr"/>
            <a:r>
              <a:rPr sz="1300" b="1" i="0">
                <a:solidFill>
                  <a:srgbClr val="FFFFFF"/>
                </a:solidFill>
                <a:latin typeface="Calibri"/>
              </a:rPr>
              <a:t>(frame times)</a:t>
            </a:r>
          </a:p>
        </p:txBody>
      </p:sp>
      <p:sp>
        <p:nvSpPr>
          <p:cNvPr id="6" name="Rounded Rectangle 5"/>
          <p:cNvSpPr/>
          <p:nvPr/>
        </p:nvSpPr>
        <p:spPr>
          <a:xfrm>
            <a:off x="4251960" y="2743200"/>
            <a:ext cx="3657600" cy="640080"/>
          </a:xfrm>
          <a:prstGeom prst="roundRect">
            <a:avLst/>
          </a:prstGeom>
          <a:solidFill>
            <a:srgbClr val="1F4E79"/>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Align &amp; Resample</a:t>
            </a:r>
          </a:p>
          <a:p>
            <a:pPr algn="ctr"/>
            <a:r>
              <a:rPr sz="1200" b="1" i="0">
                <a:solidFill>
                  <a:srgbClr val="FFFFFF"/>
                </a:solidFill>
                <a:latin typeface="Calibri"/>
              </a:rPr>
              <a:t>(linear interpolation at imaging frame times)</a:t>
            </a:r>
          </a:p>
        </p:txBody>
      </p:sp>
      <p:cxnSp>
        <p:nvCxnSpPr>
          <p:cNvPr id="7" name="Connector 6"/>
          <p:cNvCxnSpPr/>
          <p:nvPr/>
        </p:nvCxnSpPr>
        <p:spPr>
          <a:xfrm>
            <a:off x="2057400" y="2011680"/>
            <a:ext cx="0" cy="73152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80760" y="2011680"/>
            <a:ext cx="0" cy="73152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104120" y="2011680"/>
            <a:ext cx="0" cy="73152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80560" y="4023360"/>
            <a:ext cx="3200400" cy="640080"/>
          </a:xfrm>
          <a:prstGeom prst="roundRect">
            <a:avLst/>
          </a:prstGeom>
          <a:solidFill>
            <a:srgbClr val="2D8B57"/>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300" b="1" i="0">
                <a:solidFill>
                  <a:srgbClr val="FFFFFF"/>
                </a:solidFill>
                <a:latin typeface="Calibri"/>
              </a:rPr>
              <a:t>sync.h5</a:t>
            </a:r>
          </a:p>
          <a:p>
            <a:pPr algn="ctr"/>
            <a:r>
              <a:rPr sz="1300" b="1" i="0">
                <a:solidFill>
                  <a:srgbClr val="FFFFFF"/>
                </a:solidFill>
                <a:latin typeface="Calibri"/>
              </a:rPr>
              <a:t>(all signals at ~9.6 Hz imaging rate)</a:t>
            </a:r>
          </a:p>
        </p:txBody>
      </p:sp>
      <p:cxnSp>
        <p:nvCxnSpPr>
          <p:cNvPr id="11" name="Connector 10"/>
          <p:cNvCxnSpPr/>
          <p:nvPr/>
        </p:nvCxnSpPr>
        <p:spPr>
          <a:xfrm>
            <a:off x="6080760" y="3383280"/>
            <a:ext cx="0" cy="640080"/>
          </a:xfrm>
          <a:prstGeom prst="line">
            <a:avLst/>
          </a:prstGeom>
          <a:ln w="25400">
            <a:solidFill>
              <a:srgbClr val="33333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7200" y="4846320"/>
            <a:ext cx="11247120" cy="1828800"/>
          </a:xfrm>
          <a:prstGeom prst="rect">
            <a:avLst/>
          </a:prstGeom>
          <a:noFill/>
        </p:spPr>
        <p:txBody>
          <a:bodyPr wrap="square">
            <a:spAutoFit/>
          </a:bodyPr>
          <a:lstStyle/>
          <a:p>
            <a:pPr>
              <a:spcBef>
                <a:spcPts val="400"/>
              </a:spcBef>
              <a:spcAft>
                <a:spcPts val="200"/>
              </a:spcAft>
            </a:pPr>
            <a:r>
              <a:rPr sz="1300" b="1" i="0">
                <a:solidFill>
                  <a:srgbClr val="1F4E79"/>
                </a:solidFill>
                <a:latin typeface="Calibri"/>
              </a:rPr>
              <a:t>Continuous signals (HD, position, speed):</a:t>
            </a:r>
            <a:r>
              <a:rPr sz="1300" b="0" i="0">
                <a:solidFill>
                  <a:srgbClr val="333333"/>
                </a:solidFill>
                <a:latin typeface="Calibri"/>
              </a:rPr>
              <a:t> linear interpolation</a:t>
            </a:r>
          </a:p>
          <a:p>
            <a:pPr>
              <a:spcBef>
                <a:spcPts val="400"/>
              </a:spcBef>
              <a:spcAft>
                <a:spcPts val="200"/>
              </a:spcAft>
            </a:pPr>
            <a:r>
              <a:rPr sz="1300" b="1" i="0">
                <a:solidFill>
                  <a:srgbClr val="1F4E79"/>
                </a:solidFill>
                <a:latin typeface="Calibri"/>
              </a:rPr>
              <a:t>Boolean signals (active, light_on, bad_behav):</a:t>
            </a:r>
            <a:r>
              <a:rPr sz="1300" b="0" i="0">
                <a:solidFill>
                  <a:srgbClr val="333333"/>
                </a:solidFill>
                <a:latin typeface="Calibri"/>
              </a:rPr>
              <a:t> nearest-neighbour</a:t>
            </a:r>
          </a:p>
          <a:p>
            <a:pPr>
              <a:spcBef>
                <a:spcPts val="400"/>
              </a:spcBef>
              <a:spcAft>
                <a:spcPts val="200"/>
              </a:spcAft>
            </a:pPr>
            <a:r>
              <a:rPr sz="1300" b="1" i="0">
                <a:solidFill>
                  <a:srgbClr val="1F4E79"/>
                </a:solidFill>
                <a:latin typeface="Calibri"/>
              </a:rPr>
              <a:t>Calcium data:</a:t>
            </a:r>
            <a:r>
              <a:rPr sz="1300" b="0" i="0">
                <a:solidFill>
                  <a:srgbClr val="333333"/>
                </a:solidFill>
                <a:latin typeface="Calibri"/>
              </a:rPr>
              <a:t> copied verbatim (already at imaging rate)</a:t>
            </a:r>
          </a:p>
          <a:p>
            <a:pPr>
              <a:spcBef>
                <a:spcPts val="400"/>
              </a:spcBef>
              <a:spcAft>
                <a:spcPts val="200"/>
              </a:spcAft>
            </a:pPr>
            <a:r>
              <a:rPr sz="1300" b="1" i="0">
                <a:solidFill>
                  <a:srgbClr val="1F4E79"/>
                </a:solidFill>
                <a:latin typeface="Calibri"/>
              </a:rPr>
              <a:t>DLC provenance:</a:t>
            </a:r>
            <a:r>
              <a:rPr sz="1300" b="0" i="0">
                <a:solidFill>
                  <a:srgbClr val="333333"/>
                </a:solidFill>
                <a:latin typeface="Calibri"/>
              </a:rPr>
              <a:t> dlc_model_name, dlc_snapshot, dlc_champion_id inherited</a:t>
            </a:r>
          </a:p>
          <a:p>
            <a:pPr>
              <a:spcBef>
                <a:spcPts val="400"/>
              </a:spcBef>
              <a:spcAft>
                <a:spcPts val="200"/>
              </a:spcAft>
            </a:pPr>
            <a:r>
              <a:rPr sz="1300" b="1" i="0">
                <a:solidFill>
                  <a:srgbClr val="1F4E79"/>
                </a:solidFill>
                <a:latin typeface="Calibri"/>
              </a:rPr>
              <a:t>Sync diagnostics:</a:t>
            </a:r>
            <a:r>
              <a:rPr sz="1300" b="0" i="0">
                <a:solidFill>
                  <a:srgbClr val="333333"/>
                </a:solidFill>
                <a:latin typeface="Calibri"/>
              </a:rPr>
              <a:t> per-channel ISI/MAD/CV, cross-channel drift, light protocol validation</a:t>
            </a:r>
          </a:p>
          <a:p>
            <a:pPr>
              <a:spcBef>
                <a:spcPts val="400"/>
              </a:spcBef>
              <a:spcAft>
                <a:spcPts val="200"/>
              </a:spcAft>
            </a:pPr>
            <a:r>
              <a:rPr sz="1300" b="1" i="0">
                <a:solidFill>
                  <a:srgbClr val="1F4E79"/>
                </a:solidFill>
                <a:latin typeface="Calibri"/>
              </a:rPr>
              <a:t>Session classification into 7 sync_status tiers (config:</a:t>
            </a:r>
            <a:r>
              <a:rPr sz="1300" b="0" i="0">
                <a:solidFill>
                  <a:srgbClr val="333333"/>
                </a:solidFill>
                <a:latin typeface="Calibri"/>
              </a:rPr>
              <a:t> sync.yaml)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Stage 6 -- Analysis (19 Modules)</a:t>
            </a:r>
          </a:p>
        </p:txBody>
      </p:sp>
      <p:graphicFrame>
        <p:nvGraphicFramePr>
          <p:cNvPr id="3" name="Table 2"/>
          <p:cNvGraphicFramePr>
            <a:graphicFrameLocks noGrp="1"/>
          </p:cNvGraphicFramePr>
          <p:nvPr/>
        </p:nvGraphicFramePr>
        <p:xfrm>
          <a:off x="457200" y="1188720"/>
          <a:ext cx="11247120" cy="4974336"/>
        </p:xfrm>
        <a:graphic>
          <a:graphicData uri="http://schemas.openxmlformats.org/drawingml/2006/table">
            <a:tbl>
              <a:tblPr firstRow="1" bandRow="1">
                <a:tableStyleId>{5C22544A-7EE6-4342-B048-85BDC9FD1C3A}</a:tableStyleId>
              </a:tblPr>
              <a:tblGrid>
                <a:gridCol w="2743200"/>
                <a:gridCol w="8503920"/>
              </a:tblGrid>
              <a:tr h="292608">
                <a:tc>
                  <a:txBody>
                    <a:bodyPr/>
                    <a:lstStyle/>
                    <a:p>
                      <a:r>
                        <a:rPr sz="1200" b="1" i="0">
                          <a:solidFill>
                            <a:srgbClr val="FFFFFF"/>
                          </a:solidFill>
                          <a:latin typeface="Calibri"/>
                        </a:rPr>
                        <a:t>Module</a:t>
                      </a:r>
                    </a:p>
                  </a:txBody>
                  <a:tcPr anchor="ctr">
                    <a:solidFill>
                      <a:srgbClr val="1F4E79"/>
                    </a:solidFill>
                  </a:tcPr>
                </a:tc>
                <a:tc>
                  <a:txBody>
                    <a:bodyPr/>
                    <a:lstStyle/>
                    <a:p>
                      <a:r>
                        <a:rPr sz="1200" b="1" i="0">
                          <a:solidFill>
                            <a:srgbClr val="FFFFFF"/>
                          </a:solidFill>
                          <a:latin typeface="Calibri"/>
                        </a:rPr>
                        <a:t>What it computes</a:t>
                      </a:r>
                    </a:p>
                  </a:txBody>
                  <a:tcPr anchor="ctr">
                    <a:solidFill>
                      <a:srgbClr val="1F4E79"/>
                    </a:solidFill>
                  </a:tcPr>
                </a:tc>
              </a:tr>
              <a:tr h="292608">
                <a:tc>
                  <a:txBody>
                    <a:bodyPr/>
                    <a:lstStyle/>
                    <a:p>
                      <a:r>
                        <a:rPr sz="1100" b="0" i="0">
                          <a:solidFill>
                            <a:srgbClr val="333333"/>
                          </a:solidFill>
                          <a:latin typeface="Calibri"/>
                        </a:rPr>
                        <a:t>tuning.py</a:t>
                      </a:r>
                    </a:p>
                  </a:txBody>
                  <a:tcPr anchor="ctr">
                    <a:solidFill>
                      <a:srgbClr val="FFFFFF"/>
                    </a:solidFill>
                  </a:tcPr>
                </a:tc>
                <a:tc>
                  <a:txBody>
                    <a:bodyPr/>
                    <a:lstStyle/>
                    <a:p>
                      <a:r>
                        <a:rPr sz="1100" b="0" i="0">
                          <a:solidFill>
                            <a:srgbClr val="333333"/>
                          </a:solidFill>
                          <a:latin typeface="Calibri"/>
                        </a:rPr>
                        <a:t>HD tuning curves, preferred direction, mean vector length, Rayleigh test</a:t>
                      </a:r>
                    </a:p>
                  </a:txBody>
                  <a:tcPr anchor="ctr">
                    <a:solidFill>
                      <a:srgbClr val="FFFFFF"/>
                    </a:solidFill>
                  </a:tcPr>
                </a:tc>
              </a:tr>
              <a:tr h="292608">
                <a:tc>
                  <a:txBody>
                    <a:bodyPr/>
                    <a:lstStyle/>
                    <a:p>
                      <a:r>
                        <a:rPr sz="1100" b="0" i="0">
                          <a:solidFill>
                            <a:srgbClr val="333333"/>
                          </a:solidFill>
                          <a:latin typeface="Calibri"/>
                        </a:rPr>
                        <a:t>significance.py</a:t>
                      </a:r>
                    </a:p>
                  </a:txBody>
                  <a:tcPr anchor="ctr">
                    <a:solidFill>
                      <a:srgbClr val="F2F2F2"/>
                    </a:solidFill>
                  </a:tcPr>
                </a:tc>
                <a:tc>
                  <a:txBody>
                    <a:bodyPr/>
                    <a:lstStyle/>
                    <a:p>
                      <a:r>
                        <a:rPr sz="1100" b="0" i="0">
                          <a:solidFill>
                            <a:srgbClr val="333333"/>
                          </a:solidFill>
                          <a:latin typeface="Calibri"/>
                        </a:rPr>
                        <a:t>Circular shuffle tests for HD significance</a:t>
                      </a:r>
                    </a:p>
                  </a:txBody>
                  <a:tcPr anchor="ctr">
                    <a:solidFill>
                      <a:srgbClr val="F2F2F2"/>
                    </a:solidFill>
                  </a:tcPr>
                </a:tc>
              </a:tr>
              <a:tr h="292608">
                <a:tc>
                  <a:txBody>
                    <a:bodyPr/>
                    <a:lstStyle/>
                    <a:p>
                      <a:r>
                        <a:rPr sz="1100" b="0" i="0">
                          <a:solidFill>
                            <a:srgbClr val="333333"/>
                          </a:solidFill>
                          <a:latin typeface="Calibri"/>
                        </a:rPr>
                        <a:t>classify.py</a:t>
                      </a:r>
                    </a:p>
                  </a:txBody>
                  <a:tcPr anchor="ctr">
                    <a:solidFill>
                      <a:srgbClr val="FFFFFF"/>
                    </a:solidFill>
                  </a:tcPr>
                </a:tc>
                <a:tc>
                  <a:txBody>
                    <a:bodyPr/>
                    <a:lstStyle/>
                    <a:p>
                      <a:r>
                        <a:rPr sz="1100" b="0" i="0">
                          <a:solidFill>
                            <a:srgbClr val="333333"/>
                          </a:solidFill>
                          <a:latin typeface="Calibri"/>
                        </a:rPr>
                        <a:t>Automated HD cell classification</a:t>
                      </a:r>
                    </a:p>
                  </a:txBody>
                  <a:tcPr anchor="ctr">
                    <a:solidFill>
                      <a:srgbClr val="FFFFFF"/>
                    </a:solidFill>
                  </a:tcPr>
                </a:tc>
              </a:tr>
              <a:tr h="292608">
                <a:tc>
                  <a:txBody>
                    <a:bodyPr/>
                    <a:lstStyle/>
                    <a:p>
                      <a:r>
                        <a:rPr sz="1100" b="0" i="0">
                          <a:solidFill>
                            <a:srgbClr val="333333"/>
                          </a:solidFill>
                          <a:latin typeface="Calibri"/>
                        </a:rPr>
                        <a:t>comparison.py</a:t>
                      </a:r>
                    </a:p>
                  </a:txBody>
                  <a:tcPr anchor="ctr">
                    <a:solidFill>
                      <a:srgbClr val="F2F2F2"/>
                    </a:solidFill>
                  </a:tcPr>
                </a:tc>
                <a:tc>
                  <a:txBody>
                    <a:bodyPr/>
                    <a:lstStyle/>
                    <a:p>
                      <a:r>
                        <a:rPr sz="1100" b="0" i="0">
                          <a:solidFill>
                            <a:srgbClr val="333333"/>
                          </a:solidFill>
                          <a:latin typeface="Calibri"/>
                        </a:rPr>
                        <a:t>Tuning curve correlation, PD shift, split-half reliability</a:t>
                      </a:r>
                    </a:p>
                  </a:txBody>
                  <a:tcPr anchor="ctr">
                    <a:solidFill>
                      <a:srgbClr val="F2F2F2"/>
                    </a:solidFill>
                  </a:tcPr>
                </a:tc>
              </a:tr>
              <a:tr h="292608">
                <a:tc>
                  <a:txBody>
                    <a:bodyPr/>
                    <a:lstStyle/>
                    <a:p>
                      <a:r>
                        <a:rPr sz="1100" b="0" i="0">
                          <a:solidFill>
                            <a:srgbClr val="333333"/>
                          </a:solidFill>
                          <a:latin typeface="Calibri"/>
                        </a:rPr>
                        <a:t>decoder.py</a:t>
                      </a:r>
                    </a:p>
                  </a:txBody>
                  <a:tcPr anchor="ctr">
                    <a:solidFill>
                      <a:srgbClr val="FFFFFF"/>
                    </a:solidFill>
                  </a:tcPr>
                </a:tc>
                <a:tc>
                  <a:txBody>
                    <a:bodyPr/>
                    <a:lstStyle/>
                    <a:p>
                      <a:r>
                        <a:rPr sz="1100" b="0" i="0">
                          <a:solidFill>
                            <a:srgbClr val="333333"/>
                          </a:solidFill>
                          <a:latin typeface="Calibri"/>
                        </a:rPr>
                        <a:t>Bayesian population HD decoder (MAE in degrees)</a:t>
                      </a:r>
                    </a:p>
                  </a:txBody>
                  <a:tcPr anchor="ctr">
                    <a:solidFill>
                      <a:srgbClr val="FFFFFF"/>
                    </a:solidFill>
                  </a:tcPr>
                </a:tc>
              </a:tr>
              <a:tr h="292608">
                <a:tc>
                  <a:txBody>
                    <a:bodyPr/>
                    <a:lstStyle/>
                    <a:p>
                      <a:r>
                        <a:rPr sz="1100" b="0" i="0">
                          <a:solidFill>
                            <a:srgbClr val="333333"/>
                          </a:solidFill>
                          <a:latin typeface="Calibri"/>
                        </a:rPr>
                        <a:t>stability.py</a:t>
                      </a:r>
                    </a:p>
                  </a:txBody>
                  <a:tcPr anchor="ctr">
                    <a:solidFill>
                      <a:srgbClr val="F2F2F2"/>
                    </a:solidFill>
                  </a:tcPr>
                </a:tc>
                <a:tc>
                  <a:txBody>
                    <a:bodyPr/>
                    <a:lstStyle/>
                    <a:p>
                      <a:r>
                        <a:rPr sz="1100" b="0" i="0">
                          <a:solidFill>
                            <a:srgbClr val="333333"/>
                          </a:solidFill>
                          <a:latin typeface="Calibri"/>
                        </a:rPr>
                        <a:t>Temporal stability, light/dark drift analysis</a:t>
                      </a:r>
                    </a:p>
                  </a:txBody>
                  <a:tcPr anchor="ctr">
                    <a:solidFill>
                      <a:srgbClr val="F2F2F2"/>
                    </a:solidFill>
                  </a:tcPr>
                </a:tc>
              </a:tr>
              <a:tr h="292608">
                <a:tc>
                  <a:txBody>
                    <a:bodyPr/>
                    <a:lstStyle/>
                    <a:p>
                      <a:r>
                        <a:rPr sz="1100" b="0" i="0">
                          <a:solidFill>
                            <a:srgbClr val="333333"/>
                          </a:solidFill>
                          <a:latin typeface="Calibri"/>
                        </a:rPr>
                        <a:t>gain.py</a:t>
                      </a:r>
                    </a:p>
                  </a:txBody>
                  <a:tcPr anchor="ctr">
                    <a:solidFill>
                      <a:srgbClr val="FFFFFF"/>
                    </a:solidFill>
                  </a:tcPr>
                </a:tc>
                <a:tc>
                  <a:txBody>
                    <a:bodyPr/>
                    <a:lstStyle/>
                    <a:p>
                      <a:r>
                        <a:rPr sz="1100" b="0" i="0">
                          <a:solidFill>
                            <a:srgbClr val="333333"/>
                          </a:solidFill>
                          <a:latin typeface="Calibri"/>
                        </a:rPr>
                        <a:t>Light/dark gain modulation index</a:t>
                      </a:r>
                    </a:p>
                  </a:txBody>
                  <a:tcPr anchor="ctr">
                    <a:solidFill>
                      <a:srgbClr val="FFFFFF"/>
                    </a:solidFill>
                  </a:tcPr>
                </a:tc>
              </a:tr>
              <a:tr h="292608">
                <a:tc>
                  <a:txBody>
                    <a:bodyPr/>
                    <a:lstStyle/>
                    <a:p>
                      <a:r>
                        <a:rPr sz="1100" b="0" i="0">
                          <a:solidFill>
                            <a:srgbClr val="333333"/>
                          </a:solidFill>
                          <a:latin typeface="Calibri"/>
                        </a:rPr>
                        <a:t>anchoring.py</a:t>
                      </a:r>
                    </a:p>
                  </a:txBody>
                  <a:tcPr anchor="ctr">
                    <a:solidFill>
                      <a:srgbClr val="F2F2F2"/>
                    </a:solidFill>
                  </a:tcPr>
                </a:tc>
                <a:tc>
                  <a:txBody>
                    <a:bodyPr/>
                    <a:lstStyle/>
                    <a:p>
                      <a:r>
                        <a:rPr sz="1100" b="0" i="0">
                          <a:solidFill>
                            <a:srgbClr val="333333"/>
                          </a:solidFill>
                          <a:latin typeface="Calibri"/>
                        </a:rPr>
                        <a:t>Visual vs idiothetic HD anchoring</a:t>
                      </a:r>
                    </a:p>
                  </a:txBody>
                  <a:tcPr anchor="ctr">
                    <a:solidFill>
                      <a:srgbClr val="F2F2F2"/>
                    </a:solidFill>
                  </a:tcPr>
                </a:tc>
              </a:tr>
              <a:tr h="292608">
                <a:tc>
                  <a:txBody>
                    <a:bodyPr/>
                    <a:lstStyle/>
                    <a:p>
                      <a:r>
                        <a:rPr sz="1100" b="0" i="0">
                          <a:solidFill>
                            <a:srgbClr val="333333"/>
                          </a:solidFill>
                          <a:latin typeface="Calibri"/>
                        </a:rPr>
                        <a:t>ahv.py</a:t>
                      </a:r>
                    </a:p>
                  </a:txBody>
                  <a:tcPr anchor="ctr">
                    <a:solidFill>
                      <a:srgbClr val="FFFFFF"/>
                    </a:solidFill>
                  </a:tcPr>
                </a:tc>
                <a:tc>
                  <a:txBody>
                    <a:bodyPr/>
                    <a:lstStyle/>
                    <a:p>
                      <a:r>
                        <a:rPr sz="1100" b="0" i="0">
                          <a:solidFill>
                            <a:srgbClr val="333333"/>
                          </a:solidFill>
                          <a:latin typeface="Calibri"/>
                        </a:rPr>
                        <a:t>Angular head velocity tuning</a:t>
                      </a:r>
                    </a:p>
                  </a:txBody>
                  <a:tcPr anchor="ctr">
                    <a:solidFill>
                      <a:srgbClr val="FFFFFF"/>
                    </a:solidFill>
                  </a:tcPr>
                </a:tc>
              </a:tr>
              <a:tr h="292608">
                <a:tc>
                  <a:txBody>
                    <a:bodyPr/>
                    <a:lstStyle/>
                    <a:p>
                      <a:r>
                        <a:rPr sz="1100" b="0" i="0">
                          <a:solidFill>
                            <a:srgbClr val="333333"/>
                          </a:solidFill>
                          <a:latin typeface="Calibri"/>
                        </a:rPr>
                        <a:t>speed.py</a:t>
                      </a:r>
                    </a:p>
                  </a:txBody>
                  <a:tcPr anchor="ctr">
                    <a:solidFill>
                      <a:srgbClr val="F2F2F2"/>
                    </a:solidFill>
                  </a:tcPr>
                </a:tc>
                <a:tc>
                  <a:txBody>
                    <a:bodyPr/>
                    <a:lstStyle/>
                    <a:p>
                      <a:r>
                        <a:rPr sz="1100" b="0" i="0">
                          <a:solidFill>
                            <a:srgbClr val="333333"/>
                          </a:solidFill>
                          <a:latin typeface="Calibri"/>
                        </a:rPr>
                        <a:t>Speed modulation analysis</a:t>
                      </a:r>
                    </a:p>
                  </a:txBody>
                  <a:tcPr anchor="ctr">
                    <a:solidFill>
                      <a:srgbClr val="F2F2F2"/>
                    </a:solidFill>
                  </a:tcPr>
                </a:tc>
              </a:tr>
              <a:tr h="292608">
                <a:tc>
                  <a:txBody>
                    <a:bodyPr/>
                    <a:lstStyle/>
                    <a:p>
                      <a:r>
                        <a:rPr sz="1100" b="0" i="0">
                          <a:solidFill>
                            <a:srgbClr val="333333"/>
                          </a:solidFill>
                          <a:latin typeface="Calibri"/>
                        </a:rPr>
                        <a:t>information.py</a:t>
                      </a:r>
                    </a:p>
                  </a:txBody>
                  <a:tcPr anchor="ctr">
                    <a:solidFill>
                      <a:srgbClr val="FFFFFF"/>
                    </a:solidFill>
                  </a:tcPr>
                </a:tc>
                <a:tc>
                  <a:txBody>
                    <a:bodyPr/>
                    <a:lstStyle/>
                    <a:p>
                      <a:r>
                        <a:rPr sz="1100" b="0" i="0">
                          <a:solidFill>
                            <a:srgbClr val="333333"/>
                          </a:solidFill>
                          <a:latin typeface="Calibri"/>
                        </a:rPr>
                        <a:t>Spatial/directional information (Skaggs, bits/spike)</a:t>
                      </a:r>
                    </a:p>
                  </a:txBody>
                  <a:tcPr anchor="ctr">
                    <a:solidFill>
                      <a:srgbClr val="FFFFFF"/>
                    </a:solidFill>
                  </a:tcPr>
                </a:tc>
              </a:tr>
              <a:tr h="292608">
                <a:tc>
                  <a:txBody>
                    <a:bodyPr/>
                    <a:lstStyle/>
                    <a:p>
                      <a:r>
                        <a:rPr sz="1100" b="0" i="0">
                          <a:solidFill>
                            <a:srgbClr val="333333"/>
                          </a:solidFill>
                          <a:latin typeface="Calibri"/>
                        </a:rPr>
                        <a:t>activity.py</a:t>
                      </a:r>
                    </a:p>
                  </a:txBody>
                  <a:tcPr anchor="ctr">
                    <a:solidFill>
                      <a:srgbClr val="F2F2F2"/>
                    </a:solidFill>
                  </a:tcPr>
                </a:tc>
                <a:tc>
                  <a:txBody>
                    <a:bodyPr/>
                    <a:lstStyle/>
                    <a:p>
                      <a:r>
                        <a:rPr sz="1100" b="0" i="0">
                          <a:solidFill>
                            <a:srgbClr val="333333"/>
                          </a:solidFill>
                          <a:latin typeface="Calibri"/>
                        </a:rPr>
                        <a:t>Active-cell detection, firing rate statistics</a:t>
                      </a:r>
                    </a:p>
                  </a:txBody>
                  <a:tcPr anchor="ctr">
                    <a:solidFill>
                      <a:srgbClr val="F2F2F2"/>
                    </a:solidFill>
                  </a:tcPr>
                </a:tc>
              </a:tr>
              <a:tr h="292608">
                <a:tc>
                  <a:txBody>
                    <a:bodyPr/>
                    <a:lstStyle/>
                    <a:p>
                      <a:r>
                        <a:rPr sz="1100" b="0" i="0">
                          <a:solidFill>
                            <a:srgbClr val="333333"/>
                          </a:solidFill>
                          <a:latin typeface="Calibri"/>
                        </a:rPr>
                        <a:t>population.py</a:t>
                      </a:r>
                    </a:p>
                  </a:txBody>
                  <a:tcPr anchor="ctr">
                    <a:solidFill>
                      <a:srgbClr val="FFFFFF"/>
                    </a:solidFill>
                  </a:tcPr>
                </a:tc>
                <a:tc>
                  <a:txBody>
                    <a:bodyPr/>
                    <a:lstStyle/>
                    <a:p>
                      <a:r>
                        <a:rPr sz="1100" b="0" i="0">
                          <a:solidFill>
                            <a:srgbClr val="333333"/>
                          </a:solidFill>
                          <a:latin typeface="Calibri"/>
                        </a:rPr>
                        <a:t>Population-level summary statistics</a:t>
                      </a:r>
                    </a:p>
                  </a:txBody>
                  <a:tcPr anchor="ctr">
                    <a:solidFill>
                      <a:srgbClr val="FFFFFF"/>
                    </a:solidFill>
                  </a:tcPr>
                </a:tc>
              </a:tr>
              <a:tr h="292608">
                <a:tc>
                  <a:txBody>
                    <a:bodyPr/>
                    <a:lstStyle/>
                    <a:p>
                      <a:r>
                        <a:rPr sz="1100" b="0" i="0">
                          <a:solidFill>
                            <a:srgbClr val="333333"/>
                          </a:solidFill>
                          <a:latin typeface="Calibri"/>
                        </a:rPr>
                        <a:t>mixed_stats.py</a:t>
                      </a:r>
                    </a:p>
                  </a:txBody>
                  <a:tcPr anchor="ctr">
                    <a:solidFill>
                      <a:srgbClr val="F2F2F2"/>
                    </a:solidFill>
                  </a:tcPr>
                </a:tc>
                <a:tc>
                  <a:txBody>
                    <a:bodyPr/>
                    <a:lstStyle/>
                    <a:p>
                      <a:r>
                        <a:rPr sz="1100" b="0" i="0">
                          <a:solidFill>
                            <a:srgbClr val="333333"/>
                          </a:solidFill>
                          <a:latin typeface="Calibri"/>
                        </a:rPr>
                        <a:t>Cross-module Penk+ vs CamKII+ comparisons</a:t>
                      </a:r>
                    </a:p>
                  </a:txBody>
                  <a:tcPr anchor="ctr">
                    <a:solidFill>
                      <a:srgbClr val="F2F2F2"/>
                    </a:solidFill>
                  </a:tcPr>
                </a:tc>
              </a:tr>
              <a:tr h="292608">
                <a:tc>
                  <a:txBody>
                    <a:bodyPr/>
                    <a:lstStyle/>
                    <a:p>
                      <a:r>
                        <a:rPr sz="1100" b="0" i="0">
                          <a:solidFill>
                            <a:srgbClr val="333333"/>
                          </a:solidFill>
                          <a:latin typeface="Calibri"/>
                        </a:rPr>
                        <a:t>celltype_dynamics.py</a:t>
                      </a:r>
                    </a:p>
                  </a:txBody>
                  <a:tcPr anchor="ctr">
                    <a:solidFill>
                      <a:srgbClr val="FFFFFF"/>
                    </a:solidFill>
                  </a:tcPr>
                </a:tc>
                <a:tc>
                  <a:txBody>
                    <a:bodyPr/>
                    <a:lstStyle/>
                    <a:p>
                      <a:r>
                        <a:rPr sz="1100" b="0" i="0">
                          <a:solidFill>
                            <a:srgbClr val="333333"/>
                          </a:solidFill>
                          <a:latin typeface="Calibri"/>
                        </a:rPr>
                        <a:t>Time-resolved population dynamics by cell type</a:t>
                      </a:r>
                    </a:p>
                  </a:txBody>
                  <a:tcPr anchor="ctr">
                    <a:solidFill>
                      <a:srgbClr val="FFFFFF"/>
                    </a:solidFill>
                  </a:tcPr>
                </a:tc>
              </a:tr>
              <a:tr h="292608">
                <a:tc>
                  <a:txBody>
                    <a:bodyPr/>
                    <a:lstStyle/>
                    <a:p>
                      <a:r>
                        <a:rPr sz="1100" b="0" i="0">
                          <a:solidFill>
                            <a:srgbClr val="333333"/>
                          </a:solidFill>
                          <a:latin typeface="Calibri"/>
                        </a:rPr>
                        <a:t>rastermap_analysis.py</a:t>
                      </a:r>
                    </a:p>
                  </a:txBody>
                  <a:tcPr anchor="ctr">
                    <a:solidFill>
                      <a:srgbClr val="F2F2F2"/>
                    </a:solidFill>
                  </a:tcPr>
                </a:tc>
                <a:tc>
                  <a:txBody>
                    <a:bodyPr/>
                    <a:lstStyle/>
                    <a:p>
                      <a:r>
                        <a:rPr sz="1100" b="0" i="0">
                          <a:solidFill>
                            <a:srgbClr val="333333"/>
                          </a:solidFill>
                          <a:latin typeface="Calibri"/>
                        </a:rPr>
                        <a:t>Rastermap-based neural population visualisation</a:t>
                      </a:r>
                    </a:p>
                  </a:txBody>
                  <a:tcPr anchor="ctr">
                    <a:solidFill>
                      <a:srgbClr val="F2F2F2"/>
                    </a:solidFill>
                  </a:tcPr>
                </a:tc>
              </a:tr>
            </a:tbl>
          </a:graphicData>
        </a:graphic>
      </p:graphicFrame>
      <p:sp>
        <p:nvSpPr>
          <p:cNvPr id="4" name="TextBox 3"/>
          <p:cNvSpPr txBox="1"/>
          <p:nvPr/>
        </p:nvSpPr>
        <p:spPr>
          <a:xfrm>
            <a:off x="457200" y="6400800"/>
            <a:ext cx="10972800" cy="365760"/>
          </a:xfrm>
          <a:prstGeom prst="rect">
            <a:avLst/>
          </a:prstGeom>
          <a:noFill/>
        </p:spPr>
        <p:txBody>
          <a:bodyPr wrap="none">
            <a:spAutoFit/>
          </a:bodyPr>
          <a:lstStyle/>
          <a:p>
            <a:r>
              <a:rPr sz="1200" b="0" i="1">
                <a:solidFill>
                  <a:srgbClr val="666666"/>
                </a:solidFill>
                <a:latin typeface="Calibri"/>
              </a:rPr>
              <a:t>Non-parametric statistics only: Mann-Whitney U, Wilcoxon, Spearman, Kruskal-Wallis, permutation/bootstrap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Maze Analysis &amp; NaviGraph</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400" b="1" i="0">
                <a:solidFill>
                  <a:srgbClr val="1F4E79"/>
                </a:solidFill>
                <a:latin typeface="Calibri"/>
              </a:rPr>
              <a:t>Maze topology (maze/topology.py):</a:t>
            </a:r>
            <a:r>
              <a:rPr sz="1400" b="0" i="0">
                <a:solidFill>
                  <a:srgbClr val="333333"/>
                </a:solidFill>
                <a:latin typeface="Calibri"/>
              </a:rPr>
              <a:t> Rosenberg maze as graph -- 7x5 grid, adjacency, dead-ends</a:t>
            </a:r>
          </a:p>
          <a:p>
            <a:pPr>
              <a:spcBef>
                <a:spcPts val="400"/>
              </a:spcBef>
              <a:spcAft>
                <a:spcPts val="200"/>
              </a:spcAft>
            </a:pPr>
            <a:r>
              <a:rPr sz="1400" b="1" i="0">
                <a:solidFill>
                  <a:srgbClr val="1F4E79"/>
                </a:solidFill>
                <a:latin typeface="Calibri"/>
              </a:rPr>
              <a:t>Discretization (maze/discretize.py):</a:t>
            </a:r>
            <a:r>
              <a:rPr sz="1400" b="0" i="0">
                <a:solidFill>
                  <a:srgbClr val="333333"/>
                </a:solidFill>
                <a:latin typeface="Calibri"/>
              </a:rPr>
              <a:t> continuous (x, y) -&gt; cell assignment via Shapely</a:t>
            </a:r>
          </a:p>
          <a:p>
            <a:pPr>
              <a:spcBef>
                <a:spcPts val="400"/>
              </a:spcBef>
              <a:spcAft>
                <a:spcPts val="200"/>
              </a:spcAft>
            </a:pPr>
            <a:r>
              <a:rPr sz="1400" b="1" i="0">
                <a:solidFill>
                  <a:srgbClr val="1F4E79"/>
                </a:solidFill>
                <a:latin typeface="Calibri"/>
              </a:rPr>
              <a:t>Behavioural analysis (maze/analysis.py):</a:t>
            </a:r>
            <a:r>
              <a:rPr sz="1400" b="0" i="0">
                <a:solidFill>
                  <a:srgbClr val="333333"/>
                </a:solidFill>
                <a:latin typeface="Calibri"/>
              </a:rPr>
              <a:t> occupancy, exploration, turn bias, dead-end visits</a:t>
            </a:r>
          </a:p>
          <a:p>
            <a:pPr>
              <a:spcBef>
                <a:spcPts val="400"/>
              </a:spcBef>
              <a:spcAft>
                <a:spcPts val="200"/>
              </a:spcAft>
            </a:pPr>
            <a:r>
              <a:rPr sz="1400" b="1" i="0">
                <a:solidFill>
                  <a:srgbClr val="1F4E79"/>
                </a:solidFill>
                <a:latin typeface="Calibri"/>
              </a:rPr>
              <a:t>NaviGraph-inspired neural analyses (maze/neural.py):</a:t>
            </a:r>
          </a:p>
          <a:p>
            <a:pPr lvl="1">
              <a:spcBef>
                <a:spcPts val="400"/>
              </a:spcBef>
              <a:spcAft>
                <a:spcPts val="200"/>
              </a:spcAft>
            </a:pPr>
            <a:r>
              <a:rPr sz="1400" b="1" i="0">
                <a:solidFill>
                  <a:srgbClr val="1F4E79"/>
                </a:solidFill>
                <a:latin typeface="Calibri"/>
              </a:rPr>
              <a:t>1. Light/dark graph annotation:</a:t>
            </a:r>
            <a:r>
              <a:rPr sz="1400" b="0" i="0">
                <a:solidFill>
                  <a:srgbClr val="333333"/>
                </a:solidFill>
                <a:latin typeface="Calibri"/>
              </a:rPr>
              <a:t> occupancy-normalised activity per ROI per cell</a:t>
            </a:r>
          </a:p>
          <a:p>
            <a:pPr lvl="1">
              <a:spcBef>
                <a:spcPts val="400"/>
              </a:spcBef>
              <a:spcAft>
                <a:spcPts val="200"/>
              </a:spcAft>
            </a:pPr>
            <a:r>
              <a:rPr sz="1400" b="1" i="0">
                <a:solidFill>
                  <a:srgbClr val="1F4E79"/>
                </a:solidFill>
                <a:latin typeface="Calibri"/>
              </a:rPr>
              <a:t>2. Decision-point HD tuning:</a:t>
            </a:r>
            <a:r>
              <a:rPr sz="1400" b="0" i="0">
                <a:solidFill>
                  <a:srgbClr val="333333"/>
                </a:solidFill>
                <a:latin typeface="Calibri"/>
              </a:rPr>
              <a:t> split by location type (junction/corridor/dead-end)</a:t>
            </a:r>
          </a:p>
          <a:p>
            <a:pPr lvl="1">
              <a:spcBef>
                <a:spcPts val="400"/>
              </a:spcBef>
              <a:spcAft>
                <a:spcPts val="200"/>
              </a:spcAft>
            </a:pPr>
            <a:r>
              <a:rPr sz="1400" b="1" i="0">
                <a:solidFill>
                  <a:srgbClr val="1F4E79"/>
                </a:solidFill>
                <a:latin typeface="Calibri"/>
              </a:rPr>
              <a:t>3. Path familiarity:</a:t>
            </a:r>
            <a:r>
              <a:rPr sz="1400" b="0" i="0">
                <a:solidFill>
                  <a:srgbClr val="333333"/>
                </a:solidFill>
                <a:latin typeface="Calibri"/>
              </a:rPr>
              <a:t> activity change with repeated corridor traversals</a:t>
            </a:r>
          </a:p>
          <a:p>
            <a:pPr lvl="1">
              <a:spcBef>
                <a:spcPts val="400"/>
              </a:spcBef>
              <a:spcAft>
                <a:spcPts val="200"/>
              </a:spcAft>
            </a:pPr>
            <a:r>
              <a:rPr sz="1400" b="1" i="0">
                <a:solidFill>
                  <a:srgbClr val="1F4E79"/>
                </a:solidFill>
                <a:latin typeface="Calibri"/>
              </a:rPr>
              <a:t>4. Junction choice prediction:</a:t>
            </a:r>
            <a:r>
              <a:rPr sz="1400" b="0" i="0">
                <a:solidFill>
                  <a:srgbClr val="333333"/>
                </a:solidFill>
                <a:latin typeface="Calibri"/>
              </a:rPr>
              <a:t> cross-validated logistic decoding of turn choice</a:t>
            </a:r>
          </a:p>
          <a:p>
            <a:pPr>
              <a:spcBef>
                <a:spcPts val="400"/>
              </a:spcBef>
              <a:spcAft>
                <a:spcPts val="200"/>
              </a:spcAft>
            </a:pPr>
            <a:r>
              <a:rPr sz="1400" b="1" i="0">
                <a:solidFill>
                  <a:srgbClr val="1F4E79"/>
                </a:solidFill>
                <a:latin typeface="Calibri"/>
              </a:rPr>
              <a:t>Citation:</a:t>
            </a:r>
            <a:r>
              <a:rPr sz="1400" b="0" i="0">
                <a:solidFill>
                  <a:srgbClr val="333333"/>
                </a:solidFill>
                <a:latin typeface="Calibri"/>
              </a:rPr>
              <a:t> Koren Iton A et al. 2025. NaviGraph. bioRxiv. doi:10.1101/2025.05.18.654725</a:t>
            </a:r>
          </a:p>
          <a:p>
            <a:pPr>
              <a:spcBef>
                <a:spcPts val="400"/>
              </a:spcBef>
              <a:spcAft>
                <a:spcPts val="200"/>
              </a:spcAft>
            </a:pPr>
            <a:r>
              <a:rPr sz="1400" b="1" i="0">
                <a:solidFill>
                  <a:srgbClr val="1F4E79"/>
                </a:solidFill>
                <a:latin typeface="Calibri"/>
              </a:rPr>
              <a:t>Frontend:</a:t>
            </a:r>
            <a:r>
              <a:rPr sz="1400" b="0" i="0">
                <a:solidFill>
                  <a:srgbClr val="333333"/>
                </a:solidFill>
                <a:latin typeface="Calibri"/>
              </a:rPr>
              <a:t> maze_page.py (topology + occupancy), maze_animation_page.py (trajectory playback)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Canvas Maze Animation</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500" b="1" i="0">
                <a:solidFill>
                  <a:srgbClr val="1F4E79"/>
                </a:solidFill>
                <a:latin typeface="Calibri"/>
              </a:rPr>
              <a:t>Component:</a:t>
            </a:r>
            <a:r>
              <a:rPr sz="1500" b="0" i="0">
                <a:solidFill>
                  <a:srgbClr val="333333"/>
                </a:solidFill>
                <a:latin typeface="Calibri"/>
              </a:rPr>
              <a:t> frontend/components/maze_canvas.py -- HTML5 Canvas + JavaScript</a:t>
            </a:r>
          </a:p>
          <a:p>
            <a:pPr>
              <a:spcBef>
                <a:spcPts val="400"/>
              </a:spcBef>
              <a:spcAft>
                <a:spcPts val="200"/>
              </a:spcAft>
            </a:pPr>
            <a:r>
              <a:rPr sz="1500" b="0" i="0">
                <a:solidFill>
                  <a:srgbClr val="333333"/>
                </a:solidFill>
                <a:latin typeface="Calibri"/>
              </a:rPr>
              <a:t>Renders at 60 fps without Streamlit reruns (all playback logic in JS)</a:t>
            </a:r>
          </a:p>
          <a:p>
            <a:pPr>
              <a:spcBef>
                <a:spcPts val="400"/>
              </a:spcBef>
              <a:spcAft>
                <a:spcPts val="200"/>
              </a:spcAft>
            </a:pPr>
            <a:r>
              <a:rPr sz="1500" b="1" i="0">
                <a:solidFill>
                  <a:srgbClr val="1F4E79"/>
                </a:solidFill>
                <a:latin typeface="Calibri"/>
              </a:rPr>
              <a:t>Visual elements:</a:t>
            </a:r>
          </a:p>
          <a:p>
            <a:pPr lvl="1">
              <a:spcBef>
                <a:spcPts val="400"/>
              </a:spcBef>
              <a:spcAft>
                <a:spcPts val="200"/>
              </a:spcAft>
            </a:pPr>
            <a:r>
              <a:rPr sz="1500" b="0" i="0">
                <a:solidFill>
                  <a:srgbClr val="333333"/>
                </a:solidFill>
                <a:latin typeface="Calibri"/>
              </a:rPr>
              <a:t>Mouse trajectory trail</a:t>
            </a:r>
          </a:p>
          <a:p>
            <a:pPr lvl="1">
              <a:spcBef>
                <a:spcPts val="400"/>
              </a:spcBef>
              <a:spcAft>
                <a:spcPts val="200"/>
              </a:spcAft>
            </a:pPr>
            <a:r>
              <a:rPr sz="1500" b="0" i="0">
                <a:solidFill>
                  <a:srgbClr val="333333"/>
                </a:solidFill>
                <a:latin typeface="Calibri"/>
              </a:rPr>
              <a:t>Bodypart skeleton overlay</a:t>
            </a:r>
          </a:p>
          <a:p>
            <a:pPr lvl="1">
              <a:spcBef>
                <a:spcPts val="400"/>
              </a:spcBef>
              <a:spcAft>
                <a:spcPts val="200"/>
              </a:spcAft>
            </a:pPr>
            <a:r>
              <a:rPr sz="1500" b="0" i="0">
                <a:solidFill>
                  <a:srgbClr val="333333"/>
                </a:solidFill>
                <a:latin typeface="Calibri"/>
              </a:rPr>
              <a:t>Head direction arrow</a:t>
            </a:r>
          </a:p>
          <a:p>
            <a:pPr lvl="1">
              <a:spcBef>
                <a:spcPts val="400"/>
              </a:spcBef>
              <a:spcAft>
                <a:spcPts val="200"/>
              </a:spcAft>
            </a:pPr>
            <a:r>
              <a:rPr sz="1500" b="0" i="0">
                <a:solidFill>
                  <a:srgbClr val="333333"/>
                </a:solidFill>
                <a:latin typeface="Calibri"/>
              </a:rPr>
              <a:t>Light/dark state indicator</a:t>
            </a:r>
          </a:p>
          <a:p>
            <a:pPr lvl="1">
              <a:spcBef>
                <a:spcPts val="400"/>
              </a:spcBef>
              <a:spcAft>
                <a:spcPts val="200"/>
              </a:spcAft>
            </a:pPr>
            <a:r>
              <a:rPr sz="1500" b="0" i="0">
                <a:solidFill>
                  <a:srgbClr val="333333"/>
                </a:solidFill>
                <a:latin typeface="Calibri"/>
              </a:rPr>
              <a:t>Maze grid with dead-end shading</a:t>
            </a:r>
          </a:p>
          <a:p>
            <a:pPr>
              <a:spcBef>
                <a:spcPts val="400"/>
              </a:spcBef>
              <a:spcAft>
                <a:spcPts val="200"/>
              </a:spcAft>
            </a:pPr>
            <a:r>
              <a:rPr sz="1500" b="1" i="0">
                <a:solidFill>
                  <a:srgbClr val="1F4E79"/>
                </a:solidFill>
                <a:latin typeface="Calibri"/>
              </a:rPr>
              <a:t>Controls:</a:t>
            </a:r>
            <a:r>
              <a:rPr sz="1500" b="0" i="0">
                <a:solidFill>
                  <a:srgbClr val="333333"/>
                </a:solidFill>
                <a:latin typeface="Calibri"/>
              </a:rPr>
              <a:t> play/pause, speed slider, frame scrubber, zoom</a:t>
            </a:r>
          </a:p>
          <a:p>
            <a:pPr>
              <a:spcBef>
                <a:spcPts val="400"/>
              </a:spcBef>
              <a:spcAft>
                <a:spcPts val="200"/>
              </a:spcAft>
            </a:pPr>
            <a:r>
              <a:rPr sz="1500" b="0" i="0">
                <a:solidFill>
                  <a:srgbClr val="333333"/>
                </a:solidFill>
                <a:latin typeface="Calibri"/>
              </a:rPr>
              <a:t>Embedded via st.html(unsafe_allow_javascript=True)</a:t>
            </a:r>
          </a:p>
          <a:p>
            <a:pPr>
              <a:spcBef>
                <a:spcPts val="400"/>
              </a:spcBef>
              <a:spcAft>
                <a:spcPts val="200"/>
              </a:spcAft>
            </a:pPr>
            <a:r>
              <a:rPr sz="1500" b="0" i="0">
                <a:solidFill>
                  <a:srgbClr val="333333"/>
                </a:solidFill>
                <a:latin typeface="Calibri"/>
              </a:rPr>
              <a:t>Data serialised as JSON and injected into JS at render 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Frontend Dashboard -- 67 Pages</a:t>
            </a:r>
          </a:p>
        </p:txBody>
      </p:sp>
      <p:sp>
        <p:nvSpPr>
          <p:cNvPr id="3" name="TextBox 2"/>
          <p:cNvSpPr txBox="1"/>
          <p:nvPr/>
        </p:nvSpPr>
        <p:spPr>
          <a:xfrm>
            <a:off x="457200" y="1051560"/>
            <a:ext cx="11247120" cy="365760"/>
          </a:xfrm>
          <a:prstGeom prst="rect">
            <a:avLst/>
          </a:prstGeom>
          <a:noFill/>
        </p:spPr>
        <p:txBody>
          <a:bodyPr wrap="none">
            <a:spAutoFit/>
          </a:bodyPr>
          <a:lstStyle/>
          <a:p>
            <a:r>
              <a:rPr sz="1400" b="0" i="1">
                <a:solidFill>
                  <a:srgbClr val="666666"/>
                </a:solidFill>
                <a:latin typeface="Calibri"/>
              </a:rPr>
              <a:t>Streamlit with st.navigation() for multi-page layout</a:t>
            </a:r>
          </a:p>
        </p:txBody>
      </p:sp>
      <p:graphicFrame>
        <p:nvGraphicFramePr>
          <p:cNvPr id="4" name="Table 3"/>
          <p:cNvGraphicFramePr>
            <a:graphicFrameLocks noGrp="1"/>
          </p:cNvGraphicFramePr>
          <p:nvPr/>
        </p:nvGraphicFramePr>
        <p:xfrm>
          <a:off x="457200" y="1463040"/>
          <a:ext cx="11247120" cy="3017520"/>
        </p:xfrm>
        <a:graphic>
          <a:graphicData uri="http://schemas.openxmlformats.org/drawingml/2006/table">
            <a:tbl>
              <a:tblPr firstRow="1" bandRow="1">
                <a:tableStyleId>{5C22544A-7EE6-4342-B048-85BDC9FD1C3A}</a:tableStyleId>
              </a:tblPr>
              <a:tblGrid>
                <a:gridCol w="1645920"/>
                <a:gridCol w="457200"/>
                <a:gridCol w="5029200"/>
                <a:gridCol w="4114800"/>
              </a:tblGrid>
              <a:tr h="502920">
                <a:tc>
                  <a:txBody>
                    <a:bodyPr/>
                    <a:lstStyle/>
                    <a:p>
                      <a:r>
                        <a:rPr sz="1300" b="1" i="0">
                          <a:solidFill>
                            <a:srgbClr val="FFFFFF"/>
                          </a:solidFill>
                          <a:latin typeface="Calibri"/>
                        </a:rPr>
                        <a:t>Section</a:t>
                      </a:r>
                    </a:p>
                  </a:txBody>
                  <a:tcPr anchor="ctr">
                    <a:solidFill>
                      <a:srgbClr val="1F4E79"/>
                    </a:solidFill>
                  </a:tcPr>
                </a:tc>
                <a:tc>
                  <a:txBody>
                    <a:bodyPr/>
                    <a:lstStyle/>
                    <a:p>
                      <a:r>
                        <a:rPr sz="1300" b="1" i="0">
                          <a:solidFill>
                            <a:srgbClr val="FFFFFF"/>
                          </a:solidFill>
                          <a:latin typeface="Calibri"/>
                        </a:rPr>
                        <a:t>#</a:t>
                      </a:r>
                    </a:p>
                  </a:txBody>
                  <a:tcPr anchor="ctr">
                    <a:solidFill>
                      <a:srgbClr val="1F4E79"/>
                    </a:solidFill>
                  </a:tcPr>
                </a:tc>
                <a:tc>
                  <a:txBody>
                    <a:bodyPr/>
                    <a:lstStyle/>
                    <a:p>
                      <a:r>
                        <a:rPr sz="1300" b="1" i="0">
                          <a:solidFill>
                            <a:srgbClr val="FFFFFF"/>
                          </a:solidFill>
                          <a:latin typeface="Calibri"/>
                        </a:rPr>
                        <a:t>Key Pages</a:t>
                      </a:r>
                    </a:p>
                  </a:txBody>
                  <a:tcPr anchor="ctr">
                    <a:solidFill>
                      <a:srgbClr val="1F4E79"/>
                    </a:solidFill>
                  </a:tcPr>
                </a:tc>
                <a:tc>
                  <a:txBody>
                    <a:bodyPr/>
                    <a:lstStyle/>
                    <a:p>
                      <a:r>
                        <a:rPr sz="1300" b="1" i="0">
                          <a:solidFill>
                            <a:srgbClr val="FFFFFF"/>
                          </a:solidFill>
                          <a:latin typeface="Calibri"/>
                        </a:rPr>
                        <a:t>Purpose</a:t>
                      </a:r>
                    </a:p>
                  </a:txBody>
                  <a:tcPr anchor="ctr">
                    <a:solidFill>
                      <a:srgbClr val="1F4E79"/>
                    </a:solidFill>
                  </a:tcPr>
                </a:tc>
              </a:tr>
              <a:tr h="502920">
                <a:tc>
                  <a:txBody>
                    <a:bodyPr/>
                    <a:lstStyle/>
                    <a:p>
                      <a:r>
                        <a:rPr sz="1200" b="0" i="0">
                          <a:solidFill>
                            <a:srgbClr val="333333"/>
                          </a:solidFill>
                          <a:latin typeface="Calibri"/>
                        </a:rPr>
                        <a:t>Overview</a:t>
                      </a:r>
                    </a:p>
                  </a:txBody>
                  <a:tcPr anchor="ctr">
                    <a:solidFill>
                      <a:srgbClr val="FFFFFF"/>
                    </a:solidFill>
                  </a:tcPr>
                </a:tc>
                <a:tc>
                  <a:txBody>
                    <a:bodyPr/>
                    <a:lstStyle/>
                    <a:p>
                      <a:r>
                        <a:rPr sz="1200" b="0" i="0">
                          <a:solidFill>
                            <a:srgbClr val="333333"/>
                          </a:solidFill>
                          <a:latin typeface="Calibri"/>
                        </a:rPr>
                        <a:t>7</a:t>
                      </a:r>
                    </a:p>
                  </a:txBody>
                  <a:tcPr anchor="ctr">
                    <a:solidFill>
                      <a:srgbClr val="FFFFFF"/>
                    </a:solidFill>
                  </a:tcPr>
                </a:tc>
                <a:tc>
                  <a:txBody>
                    <a:bodyPr/>
                    <a:lstStyle/>
                    <a:p>
                      <a:r>
                        <a:rPr sz="1200" b="0" i="0">
                          <a:solidFill>
                            <a:srgbClr val="333333"/>
                          </a:solidFill>
                          <a:latin typeface="Calibri"/>
                        </a:rPr>
                        <a:t>Home, Sessions, Animals, Pipeline, Cell Summary</a:t>
                      </a:r>
                    </a:p>
                  </a:txBody>
                  <a:tcPr anchor="ctr">
                    <a:solidFill>
                      <a:srgbClr val="FFFFFF"/>
                    </a:solidFill>
                  </a:tcPr>
                </a:tc>
                <a:tc>
                  <a:txBody>
                    <a:bodyPr/>
                    <a:lstStyle/>
                    <a:p>
                      <a:r>
                        <a:rPr sz="1200" b="0" i="0">
                          <a:solidFill>
                            <a:srgbClr val="333333"/>
                          </a:solidFill>
                          <a:latin typeface="Calibri"/>
                        </a:rPr>
                        <a:t>Project status, metadata</a:t>
                      </a:r>
                    </a:p>
                  </a:txBody>
                  <a:tcPr anchor="ctr">
                    <a:solidFill>
                      <a:srgbClr val="FFFFFF"/>
                    </a:solidFill>
                  </a:tcPr>
                </a:tc>
              </a:tr>
              <a:tr h="502920">
                <a:tc>
                  <a:txBody>
                    <a:bodyPr/>
                    <a:lstStyle/>
                    <a:p>
                      <a:r>
                        <a:rPr sz="1200" b="0" i="0">
                          <a:solidFill>
                            <a:srgbClr val="333333"/>
                          </a:solidFill>
                          <a:latin typeface="Calibri"/>
                        </a:rPr>
                        <a:t>Pipeline</a:t>
                      </a:r>
                    </a:p>
                  </a:txBody>
                  <a:tcPr anchor="ctr">
                    <a:solidFill>
                      <a:srgbClr val="F2F2F2"/>
                    </a:solidFill>
                  </a:tcPr>
                </a:tc>
                <a:tc>
                  <a:txBody>
                    <a:bodyPr/>
                    <a:lstStyle/>
                    <a:p>
                      <a:r>
                        <a:rPr sz="1200" b="0" i="0">
                          <a:solidFill>
                            <a:srgbClr val="333333"/>
                          </a:solidFill>
                          <a:latin typeface="Calibri"/>
                        </a:rPr>
                        <a:t>16</a:t>
                      </a:r>
                    </a:p>
                  </a:txBody>
                  <a:tcPr anchor="ctr">
                    <a:solidFill>
                      <a:srgbClr val="F2F2F2"/>
                    </a:solidFill>
                  </a:tcPr>
                </a:tc>
                <a:tc>
                  <a:txBody>
                    <a:bodyPr/>
                    <a:lstStyle/>
                    <a:p>
                      <a:r>
                        <a:rPr sz="1200" b="0" i="0">
                          <a:solidFill>
                            <a:srgbClr val="333333"/>
                          </a:solidFill>
                          <a:latin typeface="Calibri"/>
                        </a:rPr>
                        <a:t>Suite2p, Calcium, DLC Training/Inference, Tracking QC, Sync</a:t>
                      </a:r>
                    </a:p>
                  </a:txBody>
                  <a:tcPr anchor="ctr">
                    <a:solidFill>
                      <a:srgbClr val="F2F2F2"/>
                    </a:solidFill>
                  </a:tcPr>
                </a:tc>
                <a:tc>
                  <a:txBody>
                    <a:bodyPr/>
                    <a:lstStyle/>
                    <a:p>
                      <a:r>
                        <a:rPr sz="1200" b="0" i="0">
                          <a:solidFill>
                            <a:srgbClr val="333333"/>
                          </a:solidFill>
                          <a:latin typeface="Calibri"/>
                        </a:rPr>
                        <a:t>Per-stage QC diagnostics</a:t>
                      </a:r>
                    </a:p>
                  </a:txBody>
                  <a:tcPr anchor="ctr">
                    <a:solidFill>
                      <a:srgbClr val="F2F2F2"/>
                    </a:solidFill>
                  </a:tcPr>
                </a:tc>
              </a:tr>
              <a:tr h="502920">
                <a:tc>
                  <a:txBody>
                    <a:bodyPr/>
                    <a:lstStyle/>
                    <a:p>
                      <a:r>
                        <a:rPr sz="1200" b="0" i="0">
                          <a:solidFill>
                            <a:srgbClr val="333333"/>
                          </a:solidFill>
                          <a:latin typeface="Calibri"/>
                        </a:rPr>
                        <a:t>Explore</a:t>
                      </a:r>
                    </a:p>
                  </a:txBody>
                  <a:tcPr anchor="ctr">
                    <a:solidFill>
                      <a:srgbClr val="FFFFFF"/>
                    </a:solidFill>
                  </a:tcPr>
                </a:tc>
                <a:tc>
                  <a:txBody>
                    <a:bodyPr/>
                    <a:lstStyle/>
                    <a:p>
                      <a:r>
                        <a:rPr sz="1200" b="0" i="0">
                          <a:solidFill>
                            <a:srgbClr val="333333"/>
                          </a:solidFill>
                          <a:latin typeface="Calibri"/>
                        </a:rPr>
                        <a:t>16</a:t>
                      </a:r>
                    </a:p>
                  </a:txBody>
                  <a:tcPr anchor="ctr">
                    <a:solidFill>
                      <a:srgbClr val="FFFFFF"/>
                    </a:solidFill>
                  </a:tcPr>
                </a:tc>
                <a:tc>
                  <a:txBody>
                    <a:bodyPr/>
                    <a:lstStyle/>
                    <a:p>
                      <a:r>
                        <a:rPr sz="1200" b="0" i="0">
                          <a:solidFill>
                            <a:srgbClr val="333333"/>
                          </a:solidFill>
                          <a:latin typeface="Calibri"/>
                        </a:rPr>
                        <a:t>Explorer, Timeline, ROI Gallery, Events, Rastermap, Behaviour</a:t>
                      </a:r>
                    </a:p>
                  </a:txBody>
                  <a:tcPr anchor="ctr">
                    <a:solidFill>
                      <a:srgbClr val="FFFFFF"/>
                    </a:solidFill>
                  </a:tcPr>
                </a:tc>
                <a:tc>
                  <a:txBody>
                    <a:bodyPr/>
                    <a:lstStyle/>
                    <a:p>
                      <a:r>
                        <a:rPr sz="1200" b="0" i="0">
                          <a:solidFill>
                            <a:srgbClr val="333333"/>
                          </a:solidFill>
                          <a:latin typeface="Calibri"/>
                        </a:rPr>
                        <a:t>Interactive data exploration</a:t>
                      </a:r>
                    </a:p>
                  </a:txBody>
                  <a:tcPr anchor="ctr">
                    <a:solidFill>
                      <a:srgbClr val="FFFFFF"/>
                    </a:solidFill>
                  </a:tcPr>
                </a:tc>
              </a:tr>
              <a:tr h="502920">
                <a:tc>
                  <a:txBody>
                    <a:bodyPr/>
                    <a:lstStyle/>
                    <a:p>
                      <a:r>
                        <a:rPr sz="1200" b="0" i="0">
                          <a:solidFill>
                            <a:srgbClr val="333333"/>
                          </a:solidFill>
                          <a:latin typeface="Calibri"/>
                        </a:rPr>
                        <a:t>Analysis</a:t>
                      </a:r>
                    </a:p>
                  </a:txBody>
                  <a:tcPr anchor="ctr">
                    <a:solidFill>
                      <a:srgbClr val="F2F2F2"/>
                    </a:solidFill>
                  </a:tcPr>
                </a:tc>
                <a:tc>
                  <a:txBody>
                    <a:bodyPr/>
                    <a:lstStyle/>
                    <a:p>
                      <a:r>
                        <a:rPr sz="1200" b="0" i="0">
                          <a:solidFill>
                            <a:srgbClr val="333333"/>
                          </a:solidFill>
                          <a:latin typeface="Calibri"/>
                        </a:rPr>
                        <a:t>23</a:t>
                      </a:r>
                    </a:p>
                  </a:txBody>
                  <a:tcPr anchor="ctr">
                    <a:solidFill>
                      <a:srgbClr val="F2F2F2"/>
                    </a:solidFill>
                  </a:tcPr>
                </a:tc>
                <a:tc>
                  <a:txBody>
                    <a:bodyPr/>
                    <a:lstStyle/>
                    <a:p>
                      <a:r>
                        <a:rPr sz="1200" b="0" i="0">
                          <a:solidFill>
                            <a:srgbClr val="333333"/>
                          </a:solidFill>
                          <a:latin typeface="Calibri"/>
                        </a:rPr>
                        <a:t>HD Tuning, Decoder, Stability, Gain, Anchoring, Maze, Pub Stats</a:t>
                      </a:r>
                    </a:p>
                  </a:txBody>
                  <a:tcPr anchor="ctr">
                    <a:solidFill>
                      <a:srgbClr val="F2F2F2"/>
                    </a:solidFill>
                  </a:tcPr>
                </a:tc>
                <a:tc>
                  <a:txBody>
                    <a:bodyPr/>
                    <a:lstStyle/>
                    <a:p>
                      <a:r>
                        <a:rPr sz="1200" b="0" i="0">
                          <a:solidFill>
                            <a:srgbClr val="333333"/>
                          </a:solidFill>
                          <a:latin typeface="Calibri"/>
                        </a:rPr>
                        <a:t>Scientific analysis</a:t>
                      </a:r>
                    </a:p>
                  </a:txBody>
                  <a:tcPr anchor="ctr">
                    <a:solidFill>
                      <a:srgbClr val="F2F2F2"/>
                    </a:solidFill>
                  </a:tcPr>
                </a:tc>
              </a:tr>
              <a:tr h="502920">
                <a:tc>
                  <a:txBody>
                    <a:bodyPr/>
                    <a:lstStyle/>
                    <a:p>
                      <a:r>
                        <a:rPr sz="1200" b="0" i="0">
                          <a:solidFill>
                            <a:srgbClr val="333333"/>
                          </a:solidFill>
                          <a:latin typeface="Calibri"/>
                        </a:rPr>
                        <a:t>System</a:t>
                      </a:r>
                    </a:p>
                  </a:txBody>
                  <a:tcPr anchor="ctr">
                    <a:solidFill>
                      <a:srgbClr val="FFFFFF"/>
                    </a:solidFill>
                  </a:tcPr>
                </a:tc>
                <a:tc>
                  <a:txBody>
                    <a:bodyPr/>
                    <a:lstStyle/>
                    <a:p>
                      <a:r>
                        <a:rPr sz="1200" b="0" i="0">
                          <a:solidFill>
                            <a:srgbClr val="333333"/>
                          </a:solidFill>
                          <a:latin typeface="Calibri"/>
                        </a:rPr>
                        <a:t>3</a:t>
                      </a:r>
                    </a:p>
                  </a:txBody>
                  <a:tcPr anchor="ctr">
                    <a:solidFill>
                      <a:srgbClr val="FFFFFF"/>
                    </a:solidFill>
                  </a:tcPr>
                </a:tc>
                <a:tc>
                  <a:txBody>
                    <a:bodyPr/>
                    <a:lstStyle/>
                    <a:p>
                      <a:r>
                        <a:rPr sz="1200" b="0" i="0">
                          <a:solidFill>
                            <a:srgbClr val="333333"/>
                          </a:solidFill>
                          <a:latin typeface="Calibri"/>
                        </a:rPr>
                        <a:t>AWS, Costs, Changelog</a:t>
                      </a:r>
                    </a:p>
                  </a:txBody>
                  <a:tcPr anchor="ctr">
                    <a:solidFill>
                      <a:srgbClr val="FFFFFF"/>
                    </a:solidFill>
                  </a:tcPr>
                </a:tc>
                <a:tc>
                  <a:txBody>
                    <a:bodyPr/>
                    <a:lstStyle/>
                    <a:p>
                      <a:r>
                        <a:rPr sz="1200" b="0" i="0">
                          <a:solidFill>
                            <a:srgbClr val="333333"/>
                          </a:solidFill>
                          <a:latin typeface="Calibri"/>
                        </a:rPr>
                        <a:t>Infrastructure monitoring</a:t>
                      </a:r>
                    </a:p>
                  </a:txBody>
                  <a:tcPr anchor="ctr">
                    <a:solidFill>
                      <a:srgbClr val="FFFFFF"/>
                    </a:solidFill>
                  </a:tcPr>
                </a:tc>
              </a:tr>
            </a:tbl>
          </a:graphicData>
        </a:graphic>
      </p:graphicFrame>
      <p:sp>
        <p:nvSpPr>
          <p:cNvPr id="5" name="TextBox 4"/>
          <p:cNvSpPr txBox="1"/>
          <p:nvPr/>
        </p:nvSpPr>
        <p:spPr>
          <a:xfrm>
            <a:off x="457200" y="4754880"/>
            <a:ext cx="11247120" cy="1371600"/>
          </a:xfrm>
          <a:prstGeom prst="rect">
            <a:avLst/>
          </a:prstGeom>
          <a:noFill/>
        </p:spPr>
        <p:txBody>
          <a:bodyPr wrap="square">
            <a:spAutoFit/>
          </a:bodyPr>
          <a:lstStyle/>
          <a:p>
            <a:pPr>
              <a:spcBef>
                <a:spcPts val="400"/>
              </a:spcBef>
              <a:spcAft>
                <a:spcPts val="200"/>
              </a:spcAft>
            </a:pPr>
            <a:r>
              <a:rPr sz="1300" b="1" i="0">
                <a:solidFill>
                  <a:srgbClr val="1F4E79"/>
                </a:solidFill>
                <a:latin typeface="Calibri"/>
              </a:rPr>
              <a:t>Data loading:</a:t>
            </a:r>
            <a:r>
              <a:rPr sz="1300" b="0" i="0">
                <a:solidFill>
                  <a:srgbClr val="333333"/>
                </a:solidFill>
                <a:latin typeface="Calibri"/>
              </a:rPr>
              <a:t> frontend/data.py -- S3 caching with @st.cache_data</a:t>
            </a:r>
          </a:p>
          <a:p>
            <a:pPr>
              <a:spcBef>
                <a:spcPts val="400"/>
              </a:spcBef>
              <a:spcAft>
                <a:spcPts val="200"/>
              </a:spcAft>
            </a:pPr>
            <a:r>
              <a:rPr sz="1300" b="0" i="0">
                <a:solidFill>
                  <a:srgbClr val="333333"/>
                </a:solidFill>
                <a:latin typeface="Calibri"/>
              </a:rPr>
              <a:t>No sidebar filters -- all controls in page body via st.columns()</a:t>
            </a:r>
          </a:p>
          <a:p>
            <a:pPr>
              <a:spcBef>
                <a:spcPts val="400"/>
              </a:spcBef>
              <a:spcAft>
                <a:spcPts val="200"/>
              </a:spcAft>
            </a:pPr>
            <a:r>
              <a:rPr sz="1300" b="0" i="0">
                <a:solidFill>
                  <a:srgbClr val="333333"/>
                </a:solidFill>
                <a:latin typeface="Calibri"/>
              </a:rPr>
              <a:t>No synthetic data -- pages load real data from S3, show messages when unavailable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Analysis Loading -- pynapple Interface</a:t>
            </a:r>
          </a:p>
        </p:txBody>
      </p:sp>
      <p:sp>
        <p:nvSpPr>
          <p:cNvPr id="3" name="Rectangle 2"/>
          <p:cNvSpPr/>
          <p:nvPr/>
        </p:nvSpPr>
        <p:spPr>
          <a:xfrm>
            <a:off x="457200" y="1280160"/>
            <a:ext cx="7315200" cy="2743200"/>
          </a:xfrm>
          <a:prstGeom prst="rect">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r>
              <a:rPr sz="1300" b="0" i="0">
                <a:solidFill>
                  <a:srgbClr val="333333"/>
                </a:solidFill>
                <a:latin typeface="Consolas"/>
              </a:rPr>
              <a:t>import pynapple as nap, h5py</a:t>
            </a:r>
          </a:p>
          <a:p>
            <a:r>
              <a:rPr sz="1300" b="0" i="0">
                <a:solidFill>
                  <a:srgbClr val="333333"/>
                </a:solidFill>
                <a:latin typeface="Consolas"/>
              </a:rPr>
              <a:t/>
            </a:r>
          </a:p>
          <a:p>
            <a:r>
              <a:rPr sz="1300" b="0" i="0">
                <a:solidFill>
                  <a:srgbClr val="333333"/>
                </a:solidFill>
                <a:latin typeface="Consolas"/>
              </a:rPr>
              <a:t>with h5py.File("sync.h5") as f:</a:t>
            </a:r>
          </a:p>
          <a:p>
            <a:r>
              <a:rPr sz="1300" b="0" i="0">
                <a:solidFill>
                  <a:srgbClr val="333333"/>
                </a:solidFill>
                <a:latin typeface="Consolas"/>
              </a:rPr>
              <a:t>    t      = f["frame_times"][:]</a:t>
            </a:r>
          </a:p>
          <a:p>
            <a:r>
              <a:rPr sz="1300" b="0" i="0">
                <a:solidFill>
                  <a:srgbClr val="333333"/>
                </a:solidFill>
                <a:latin typeface="Consolas"/>
              </a:rPr>
              <a:t>    spikes = nap.TsdFrame(t=t, d=f["spikes"][:].T)</a:t>
            </a:r>
          </a:p>
          <a:p>
            <a:r>
              <a:rPr sz="1300" b="0" i="0">
                <a:solidFill>
                  <a:srgbClr val="333333"/>
                </a:solidFill>
                <a:latin typeface="Consolas"/>
              </a:rPr>
              <a:t>    dff    = nap.TsdFrame(t=t, d=f["dff"][:].T)</a:t>
            </a:r>
          </a:p>
          <a:p>
            <a:r>
              <a:rPr sz="1300" b="0" i="0">
                <a:solidFill>
                  <a:srgbClr val="333333"/>
                </a:solidFill>
                <a:latin typeface="Consolas"/>
              </a:rPr>
              <a:t>    hd     = nap.Tsd(t=t, d=f["hd_deg"][:])</a:t>
            </a:r>
          </a:p>
          <a:p>
            <a:r>
              <a:rPr sz="1300" b="0" i="0">
                <a:solidFill>
                  <a:srgbClr val="333333"/>
                </a:solidFill>
                <a:latin typeface="Consolas"/>
              </a:rPr>
              <a:t>    speed  = nap.Tsd(t=t, d=f["speed_cm_s"][:])</a:t>
            </a:r>
          </a:p>
        </p:txBody>
      </p:sp>
      <p:sp>
        <p:nvSpPr>
          <p:cNvPr id="4" name="TextBox 3"/>
          <p:cNvSpPr txBox="1"/>
          <p:nvPr/>
        </p:nvSpPr>
        <p:spPr>
          <a:xfrm>
            <a:off x="8229600" y="1371600"/>
            <a:ext cx="3657600" cy="2286000"/>
          </a:xfrm>
          <a:prstGeom prst="rect">
            <a:avLst/>
          </a:prstGeom>
          <a:noFill/>
        </p:spPr>
        <p:txBody>
          <a:bodyPr wrap="square">
            <a:spAutoFit/>
          </a:bodyPr>
          <a:lstStyle/>
          <a:p>
            <a:pPr>
              <a:spcBef>
                <a:spcPts val="600"/>
              </a:spcBef>
            </a:pPr>
            <a:r>
              <a:rPr sz="1400" b="1" i="0">
                <a:solidFill>
                  <a:srgbClr val="1F4E79"/>
                </a:solidFill>
                <a:latin typeface="Calibri"/>
              </a:rPr>
              <a:t>Arrays: time-first, C-contiguous</a:t>
            </a:r>
          </a:p>
          <a:p>
            <a:pPr>
              <a:spcBef>
                <a:spcPts val="600"/>
              </a:spcBef>
            </a:pPr>
            <a:r>
              <a:rPr sz="1400" b="1" i="0">
                <a:solidFill>
                  <a:srgbClr val="1F4E79"/>
                </a:solidFill>
                <a:latin typeface="Calibri"/>
              </a:rPr>
              <a:t>Timestamps: float64, seconds since session start</a:t>
            </a:r>
          </a:p>
          <a:p>
            <a:pPr>
              <a:spcBef>
                <a:spcPts val="600"/>
              </a:spcBef>
            </a:pPr>
            <a:r>
              <a:rPr sz="1400" b="1" i="0">
                <a:solidFill>
                  <a:srgbClr val="1F4E79"/>
                </a:solidFill>
                <a:latin typeface="Calibri"/>
              </a:rPr>
              <a:t>Units in names: hd_deg, speed_cm_s, ahv_deg_s</a:t>
            </a:r>
          </a:p>
          <a:p>
            <a:pPr>
              <a:spcBef>
                <a:spcPts val="600"/>
              </a:spcBef>
            </a:pPr>
            <a:r>
              <a:rPr sz="1400" b="1" i="0">
                <a:solidFill>
                  <a:srgbClr val="1F4E79"/>
                </a:solidFill>
                <a:latin typeface="Calibri"/>
              </a:rPr>
              <a:t>Zero-friction pynapple loading</a:t>
            </a:r>
          </a:p>
        </p:txBody>
      </p:sp>
      <p:sp>
        <p:nvSpPr>
          <p:cNvPr id="5" name="TextBox 4"/>
          <p:cNvSpPr txBox="1"/>
          <p:nvPr/>
        </p:nvSpPr>
        <p:spPr>
          <a:xfrm>
            <a:off x="457200" y="4389120"/>
            <a:ext cx="11247120" cy="5029200"/>
          </a:xfrm>
          <a:prstGeom prst="rect">
            <a:avLst/>
          </a:prstGeom>
          <a:noFill/>
        </p:spPr>
        <p:txBody>
          <a:bodyPr wrap="square">
            <a:spAutoFit/>
          </a:bodyPr>
          <a:lstStyle/>
          <a:p>
            <a:pPr>
              <a:spcBef>
                <a:spcPts val="400"/>
              </a:spcBef>
              <a:spcAft>
                <a:spcPts val="200"/>
              </a:spcAft>
            </a:pPr>
            <a:r>
              <a:rPr sz="1400" b="1" i="0">
                <a:solidFill>
                  <a:srgbClr val="1F4E79"/>
                </a:solidFill>
                <a:latin typeface="Calibri"/>
              </a:rPr>
              <a:t>Planned tools:</a:t>
            </a:r>
          </a:p>
          <a:p>
            <a:pPr lvl="1">
              <a:spcBef>
                <a:spcPts val="400"/>
              </a:spcBef>
              <a:spcAft>
                <a:spcPts val="200"/>
              </a:spcAft>
            </a:pPr>
            <a:r>
              <a:rPr sz="1400" b="0" i="0">
                <a:solidFill>
                  <a:srgbClr val="333333"/>
                </a:solidFill>
                <a:latin typeface="Calibri"/>
              </a:rPr>
              <a:t>NEMOS (Flatiron) -- GLM encoding models, pynapple-native, JAX backend</a:t>
            </a:r>
          </a:p>
          <a:p>
            <a:pPr lvl="1">
              <a:spcBef>
                <a:spcPts val="400"/>
              </a:spcBef>
              <a:spcAft>
                <a:spcPts val="200"/>
              </a:spcAft>
            </a:pPr>
            <a:r>
              <a:rPr sz="1400" b="0" i="0">
                <a:solidFill>
                  <a:srgbClr val="333333"/>
                </a:solidFill>
                <a:latin typeface="Calibri"/>
              </a:rPr>
              <a:t>CEBRA (Schneider et al. 2023) -- contrastive population embeddings; ring manifold for HD</a:t>
            </a:r>
          </a:p>
          <a:p>
            <a:pPr lvl="1">
              <a:spcBef>
                <a:spcPts val="400"/>
              </a:spcBef>
              <a:spcAft>
                <a:spcPts val="200"/>
              </a:spcAft>
            </a:pPr>
            <a:r>
              <a:rPr sz="1400" b="0" i="0">
                <a:solidFill>
                  <a:srgbClr val="333333"/>
                </a:solidFill>
                <a:latin typeface="Calibri"/>
              </a:rPr>
              <a:t>neuroconv -- HDF5 -&gt; NWB export for DANDI archiving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Infrastructure -- AWS</a:t>
            </a:r>
          </a:p>
        </p:txBody>
      </p:sp>
      <p:sp>
        <p:nvSpPr>
          <p:cNvPr id="3" name="Rounded Rectangle 2"/>
          <p:cNvSpPr/>
          <p:nvPr/>
        </p:nvSpPr>
        <p:spPr>
          <a:xfrm>
            <a:off x="457200" y="1280160"/>
            <a:ext cx="5029200" cy="2560320"/>
          </a:xfrm>
          <a:prstGeom prst="roundRect">
            <a:avLst/>
          </a:prstGeom>
          <a:solidFill>
            <a:srgbClr val="D6E4F0"/>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
            </a:r>
          </a:p>
        </p:txBody>
      </p:sp>
      <p:sp>
        <p:nvSpPr>
          <p:cNvPr id="4" name="TextBox 3"/>
          <p:cNvSpPr txBox="1"/>
          <p:nvPr/>
        </p:nvSpPr>
        <p:spPr>
          <a:xfrm>
            <a:off x="640080" y="1325880"/>
            <a:ext cx="4572000" cy="320040"/>
          </a:xfrm>
          <a:prstGeom prst="rect">
            <a:avLst/>
          </a:prstGeom>
          <a:noFill/>
        </p:spPr>
        <p:txBody>
          <a:bodyPr wrap="none">
            <a:spAutoFit/>
          </a:bodyPr>
          <a:lstStyle/>
          <a:p>
            <a:r>
              <a:rPr sz="1600" b="1" i="0">
                <a:solidFill>
                  <a:srgbClr val="1F4E79"/>
                </a:solidFill>
                <a:latin typeface="Calibri"/>
              </a:rPr>
              <a:t>EC2 Instances (Spot)</a:t>
            </a:r>
          </a:p>
        </p:txBody>
      </p:sp>
      <p:sp>
        <p:nvSpPr>
          <p:cNvPr id="5" name="Rounded Rectangle 4"/>
          <p:cNvSpPr/>
          <p:nvPr/>
        </p:nvSpPr>
        <p:spPr>
          <a:xfrm>
            <a:off x="640080" y="1828800"/>
            <a:ext cx="2103120" cy="54864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000" b="1" i="0">
                <a:solidFill>
                  <a:srgbClr val="FFFFFF"/>
                </a:solidFill>
                <a:latin typeface="Calibri"/>
              </a:rPr>
              <a:t>g4dn.xlarge</a:t>
            </a:r>
          </a:p>
          <a:p>
            <a:pPr algn="ctr"/>
            <a:r>
              <a:rPr sz="1000" b="1" i="0">
                <a:solidFill>
                  <a:srgbClr val="FFFFFF"/>
                </a:solidFill>
                <a:latin typeface="Calibri"/>
              </a:rPr>
              <a:t>~$0.16/hr</a:t>
            </a:r>
          </a:p>
        </p:txBody>
      </p:sp>
      <p:sp>
        <p:nvSpPr>
          <p:cNvPr id="6" name="Rounded Rectangle 5"/>
          <p:cNvSpPr/>
          <p:nvPr/>
        </p:nvSpPr>
        <p:spPr>
          <a:xfrm>
            <a:off x="3017520" y="1828800"/>
            <a:ext cx="2286000" cy="548640"/>
          </a:xfrm>
          <a:prstGeom prst="roundRect">
            <a:avLst/>
          </a:prstGeom>
          <a:solidFill>
            <a:srgbClr val="178585"/>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000" b="1" i="0">
                <a:solidFill>
                  <a:srgbClr val="FFFFFF"/>
                </a:solidFill>
                <a:latin typeface="Calibri"/>
              </a:rPr>
              <a:t>g4dn.2xl / g5.xl</a:t>
            </a:r>
          </a:p>
          <a:p>
            <a:pPr algn="ctr"/>
            <a:r>
              <a:rPr sz="1000" b="1" i="0">
                <a:solidFill>
                  <a:srgbClr val="FFFFFF"/>
                </a:solidFill>
                <a:latin typeface="Calibri"/>
              </a:rPr>
              <a:t>~$0.30/hr</a:t>
            </a:r>
          </a:p>
        </p:txBody>
      </p:sp>
      <p:sp>
        <p:nvSpPr>
          <p:cNvPr id="7" name="Rounded Rectangle 6"/>
          <p:cNvSpPr/>
          <p:nvPr/>
        </p:nvSpPr>
        <p:spPr>
          <a:xfrm>
            <a:off x="640080" y="2560320"/>
            <a:ext cx="2103120" cy="548640"/>
          </a:xfrm>
          <a:prstGeom prst="roundRect">
            <a:avLst/>
          </a:prstGeom>
          <a:solidFill>
            <a:srgbClr val="2E75B6"/>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000" b="1" i="0">
                <a:solidFill>
                  <a:srgbClr val="FFFFFF"/>
                </a:solidFill>
                <a:latin typeface="Calibri"/>
              </a:rPr>
              <a:t>c5.4xlarge</a:t>
            </a:r>
          </a:p>
          <a:p>
            <a:pPr algn="ctr"/>
            <a:r>
              <a:rPr sz="1000" b="1" i="0">
                <a:solidFill>
                  <a:srgbClr val="FFFFFF"/>
                </a:solidFill>
                <a:latin typeface="Calibri"/>
              </a:rPr>
              <a:t>~$0.27/hr</a:t>
            </a:r>
          </a:p>
        </p:txBody>
      </p:sp>
      <p:sp>
        <p:nvSpPr>
          <p:cNvPr id="8" name="TextBox 7"/>
          <p:cNvSpPr txBox="1"/>
          <p:nvPr/>
        </p:nvSpPr>
        <p:spPr>
          <a:xfrm>
            <a:off x="640080" y="2395728"/>
            <a:ext cx="2103120" cy="274320"/>
          </a:xfrm>
          <a:prstGeom prst="rect">
            <a:avLst/>
          </a:prstGeom>
          <a:noFill/>
        </p:spPr>
        <p:txBody>
          <a:bodyPr wrap="none">
            <a:spAutoFit/>
          </a:bodyPr>
          <a:lstStyle/>
          <a:p>
            <a:pPr algn="ctr"/>
            <a:r>
              <a:rPr sz="900" b="0" i="1">
                <a:solidFill>
                  <a:srgbClr val="666666"/>
                </a:solidFill>
                <a:latin typeface="Calibri"/>
              </a:rPr>
              <a:t>DLC inference
Suite2p</a:t>
            </a:r>
          </a:p>
        </p:txBody>
      </p:sp>
      <p:sp>
        <p:nvSpPr>
          <p:cNvPr id="9" name="TextBox 8"/>
          <p:cNvSpPr txBox="1"/>
          <p:nvPr/>
        </p:nvSpPr>
        <p:spPr>
          <a:xfrm>
            <a:off x="3017520" y="2395728"/>
            <a:ext cx="2103120" cy="274320"/>
          </a:xfrm>
          <a:prstGeom prst="rect">
            <a:avLst/>
          </a:prstGeom>
          <a:noFill/>
        </p:spPr>
        <p:txBody>
          <a:bodyPr wrap="none">
            <a:spAutoFit/>
          </a:bodyPr>
          <a:lstStyle/>
          <a:p>
            <a:pPr algn="ctr"/>
            <a:r>
              <a:rPr sz="900" b="0" i="1">
                <a:solidFill>
                  <a:srgbClr val="666666"/>
                </a:solidFill>
                <a:latin typeface="Calibri"/>
              </a:rPr>
              <a:t>DLC training</a:t>
            </a:r>
          </a:p>
        </p:txBody>
      </p:sp>
      <p:sp>
        <p:nvSpPr>
          <p:cNvPr id="10" name="TextBox 9"/>
          <p:cNvSpPr txBox="1"/>
          <p:nvPr/>
        </p:nvSpPr>
        <p:spPr>
          <a:xfrm>
            <a:off x="640080" y="3127248"/>
            <a:ext cx="2103120" cy="274320"/>
          </a:xfrm>
          <a:prstGeom prst="rect">
            <a:avLst/>
          </a:prstGeom>
          <a:noFill/>
        </p:spPr>
        <p:txBody>
          <a:bodyPr wrap="none">
            <a:spAutoFit/>
          </a:bodyPr>
          <a:lstStyle/>
          <a:p>
            <a:pPr algn="ctr"/>
            <a:r>
              <a:rPr sz="900" b="0" i="1">
                <a:solidFill>
                  <a:srgbClr val="666666"/>
                </a:solidFill>
                <a:latin typeface="Calibri"/>
              </a:rPr>
              <a:t>CPU stages</a:t>
            </a:r>
          </a:p>
        </p:txBody>
      </p:sp>
      <p:sp>
        <p:nvSpPr>
          <p:cNvPr id="11" name="Rounded Rectangle 10"/>
          <p:cNvSpPr/>
          <p:nvPr/>
        </p:nvSpPr>
        <p:spPr>
          <a:xfrm>
            <a:off x="5943600" y="1280160"/>
            <a:ext cx="5760720" cy="2560320"/>
          </a:xfrm>
          <a:prstGeom prst="roundRect">
            <a:avLst/>
          </a:prstGeom>
          <a:solidFill>
            <a:srgbClr val="D6E4F0"/>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200" b="1" i="0">
                <a:solidFill>
                  <a:srgbClr val="FFFFFF"/>
                </a:solidFill>
                <a:latin typeface="Calibri"/>
              </a:rPr>
              <a:t/>
            </a:r>
          </a:p>
        </p:txBody>
      </p:sp>
      <p:sp>
        <p:nvSpPr>
          <p:cNvPr id="12" name="TextBox 11"/>
          <p:cNvSpPr txBox="1"/>
          <p:nvPr/>
        </p:nvSpPr>
        <p:spPr>
          <a:xfrm>
            <a:off x="6126480" y="1325880"/>
            <a:ext cx="5303520" cy="320040"/>
          </a:xfrm>
          <a:prstGeom prst="rect">
            <a:avLst/>
          </a:prstGeom>
          <a:noFill/>
        </p:spPr>
        <p:txBody>
          <a:bodyPr wrap="none">
            <a:spAutoFit/>
          </a:bodyPr>
          <a:lstStyle/>
          <a:p>
            <a:r>
              <a:rPr sz="1600" b="1" i="0">
                <a:solidFill>
                  <a:srgbClr val="1F4E79"/>
                </a:solidFill>
                <a:latin typeface="Calibri"/>
              </a:rPr>
              <a:t>S3 Buckets</a:t>
            </a:r>
          </a:p>
        </p:txBody>
      </p:sp>
      <p:sp>
        <p:nvSpPr>
          <p:cNvPr id="13" name="Rounded Rectangle 12"/>
          <p:cNvSpPr/>
          <p:nvPr/>
        </p:nvSpPr>
        <p:spPr>
          <a:xfrm>
            <a:off x="6217920" y="1828800"/>
            <a:ext cx="2468880" cy="548640"/>
          </a:xfrm>
          <a:prstGeom prst="roundRect">
            <a:avLst/>
          </a:prstGeom>
          <a:solidFill>
            <a:srgbClr val="E07C24"/>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hm2p-rawdata</a:t>
            </a:r>
          </a:p>
          <a:p>
            <a:pPr algn="ctr"/>
            <a:r>
              <a:rPr sz="1100" b="1" i="0">
                <a:solidFill>
                  <a:srgbClr val="FFFFFF"/>
                </a:solidFill>
                <a:latin typeface="Calibri"/>
              </a:rPr>
              <a:t>Infrequent Access</a:t>
            </a:r>
          </a:p>
        </p:txBody>
      </p:sp>
      <p:sp>
        <p:nvSpPr>
          <p:cNvPr id="14" name="Rounded Rectangle 13"/>
          <p:cNvSpPr/>
          <p:nvPr/>
        </p:nvSpPr>
        <p:spPr>
          <a:xfrm>
            <a:off x="8961120" y="1828800"/>
            <a:ext cx="2468880" cy="548640"/>
          </a:xfrm>
          <a:prstGeom prst="roundRect">
            <a:avLst/>
          </a:prstGeom>
          <a:solidFill>
            <a:srgbClr val="2D8B57"/>
          </a:solidFill>
          <a:ln w="1270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lIns="36000" rIns="36000" tIns="18000" bIns="18000"/>
          <a:lstStyle/>
          <a:p>
            <a:pPr algn="ctr"/>
            <a:r>
              <a:rPr sz="1100" b="1" i="0">
                <a:solidFill>
                  <a:srgbClr val="FFFFFF"/>
                </a:solidFill>
                <a:latin typeface="Calibri"/>
              </a:rPr>
              <a:t>hm2p-derivatives</a:t>
            </a:r>
          </a:p>
          <a:p>
            <a:pPr algn="ctr"/>
            <a:r>
              <a:rPr sz="1100" b="1" i="0">
                <a:solidFill>
                  <a:srgbClr val="FFFFFF"/>
                </a:solidFill>
                <a:latin typeface="Calibri"/>
              </a:rPr>
              <a:t>Standard</a:t>
            </a:r>
          </a:p>
        </p:txBody>
      </p:sp>
      <p:cxnSp>
        <p:nvCxnSpPr>
          <p:cNvPr id="15" name="Connector 14"/>
          <p:cNvCxnSpPr/>
          <p:nvPr/>
        </p:nvCxnSpPr>
        <p:spPr>
          <a:xfrm>
            <a:off x="5486400" y="2560320"/>
            <a:ext cx="457200"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4114800"/>
            <a:ext cx="11247120" cy="5029200"/>
          </a:xfrm>
          <a:prstGeom prst="rect">
            <a:avLst/>
          </a:prstGeom>
          <a:noFill/>
        </p:spPr>
        <p:txBody>
          <a:bodyPr wrap="square">
            <a:spAutoFit/>
          </a:bodyPr>
          <a:lstStyle/>
          <a:p>
            <a:pPr>
              <a:spcBef>
                <a:spcPts val="400"/>
              </a:spcBef>
              <a:spcAft>
                <a:spcPts val="200"/>
              </a:spcAft>
            </a:pPr>
            <a:r>
              <a:rPr sz="1300" b="1" i="0">
                <a:solidFill>
                  <a:srgbClr val="1F4E79"/>
                </a:solidFill>
                <a:latin typeface="Calibri"/>
              </a:rPr>
              <a:t>Safety mechanisms:</a:t>
            </a:r>
          </a:p>
          <a:p>
            <a:pPr lvl="1">
              <a:spcBef>
                <a:spcPts val="400"/>
              </a:spcBef>
              <a:spcAft>
                <a:spcPts val="200"/>
              </a:spcAft>
            </a:pPr>
            <a:r>
              <a:rPr sz="1300" b="1" i="0">
                <a:solidFill>
                  <a:srgbClr val="1F4E79"/>
                </a:solidFill>
                <a:latin typeface="Calibri"/>
              </a:rPr>
              <a:t>GPU watchdog:</a:t>
            </a:r>
            <a:r>
              <a:rPr sz="1300" b="0" i="0">
                <a:solidFill>
                  <a:srgbClr val="333333"/>
                </a:solidFill>
                <a:latin typeface="Calibri"/>
              </a:rPr>
              <a:t> terminate if 0% utilisation for 5+ minutes</a:t>
            </a:r>
          </a:p>
          <a:p>
            <a:pPr lvl="1">
              <a:spcBef>
                <a:spcPts val="400"/>
              </a:spcBef>
              <a:spcAft>
                <a:spcPts val="200"/>
              </a:spcAft>
            </a:pPr>
            <a:r>
              <a:rPr sz="1300" b="0" i="0">
                <a:solidFill>
                  <a:srgbClr val="333333"/>
                </a:solidFill>
                <a:latin typeface="Calibri"/>
              </a:rPr>
              <a:t>24-hour hard timeout on all instances</a:t>
            </a:r>
          </a:p>
          <a:p>
            <a:pPr lvl="1">
              <a:spcBef>
                <a:spcPts val="400"/>
              </a:spcBef>
              <a:spcAft>
                <a:spcPts val="200"/>
              </a:spcAft>
            </a:pPr>
            <a:r>
              <a:rPr sz="1300" b="0" i="0">
                <a:solidFill>
                  <a:srgbClr val="333333"/>
                </a:solidFill>
                <a:latin typeface="Calibri"/>
              </a:rPr>
              <a:t>Self-termination on completion (InstanceInitiatedShutdownBehavior=terminate)</a:t>
            </a:r>
          </a:p>
          <a:p>
            <a:pPr lvl="1">
              <a:spcBef>
                <a:spcPts val="400"/>
              </a:spcBef>
              <a:spcAft>
                <a:spcPts val="200"/>
              </a:spcAft>
            </a:pPr>
            <a:r>
              <a:rPr sz="1300" b="0" i="0">
                <a:solidFill>
                  <a:srgbClr val="333333"/>
                </a:solidFill>
                <a:latin typeface="Calibri"/>
              </a:rPr>
              <a:t>Security group restricted to known IP</a:t>
            </a:r>
          </a:p>
          <a:p>
            <a:pPr lvl="1">
              <a:spcBef>
                <a:spcPts val="400"/>
              </a:spcBef>
              <a:spcAft>
                <a:spcPts val="200"/>
              </a:spcAft>
            </a:pPr>
            <a:r>
              <a:rPr sz="1300" b="0" i="0">
                <a:solidFill>
                  <a:srgbClr val="333333"/>
                </a:solidFill>
                <a:latin typeface="Calibri"/>
              </a:rPr>
              <a:t>SSM Session Manager for keyless SSH</a:t>
            </a:r>
          </a:p>
          <a:p>
            <a:pPr>
              <a:spcBef>
                <a:spcPts val="400"/>
              </a:spcBef>
              <a:spcAft>
                <a:spcPts val="200"/>
              </a:spcAft>
            </a:pPr>
            <a:r>
              <a:rPr sz="1300" b="1" i="0">
                <a:solidFill>
                  <a:srgbClr val="1F4E79"/>
                </a:solidFill>
                <a:latin typeface="Calibri"/>
              </a:rPr>
              <a:t>Cost:</a:t>
            </a:r>
            <a:r>
              <a:rPr sz="1300" b="0" i="0">
                <a:solidFill>
                  <a:srgbClr val="333333"/>
                </a:solidFill>
                <a:latin typeface="Calibri"/>
              </a:rPr>
              <a:t> ~$180-380 one-time processing (all 26 sessions). Storage: ~$10/month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Pipeline Orchestration</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400" b="0" i="0">
                <a:solidFill>
                  <a:srgbClr val="333333"/>
                </a:solidFill>
                <a:latin typeface="Calibri"/>
              </a:rPr>
              <a:t>Snakemake 8.x+ -- DAG-based workflow engine</a:t>
            </a:r>
          </a:p>
          <a:p>
            <a:pPr>
              <a:spcBef>
                <a:spcPts val="400"/>
              </a:spcBef>
              <a:spcAft>
                <a:spcPts val="200"/>
              </a:spcAft>
            </a:pPr>
            <a:r>
              <a:rPr sz="1400" b="1" i="0">
                <a:solidFill>
                  <a:srgbClr val="1F4E79"/>
                </a:solidFill>
                <a:latin typeface="Calibri"/>
              </a:rPr>
              <a:t>Snakefile:</a:t>
            </a:r>
            <a:r>
              <a:rPr sz="1400" b="0" i="0">
                <a:solidFill>
                  <a:srgbClr val="333333"/>
                </a:solidFill>
                <a:latin typeface="Calibri"/>
              </a:rPr>
              <a:t> workflow/Snakefile (main DAG)</a:t>
            </a:r>
          </a:p>
          <a:p>
            <a:pPr>
              <a:spcBef>
                <a:spcPts val="400"/>
              </a:spcBef>
              <a:spcAft>
                <a:spcPts val="200"/>
              </a:spcAft>
            </a:pPr>
            <a:r>
              <a:rPr sz="1400" b="1" i="0">
                <a:solidFill>
                  <a:srgbClr val="1F4E79"/>
                </a:solidFill>
                <a:latin typeface="Calibri"/>
              </a:rPr>
              <a:t>Stage rules:</a:t>
            </a:r>
            <a:r>
              <a:rPr sz="1400" b="0" i="0">
                <a:solidFill>
                  <a:srgbClr val="333333"/>
                </a:solidFill>
                <a:latin typeface="Calibri"/>
              </a:rPr>
              <a:t> workflow/rules/ -- ingest, extraction, pose, kinematics, calcium, sync</a:t>
            </a:r>
          </a:p>
          <a:p>
            <a:pPr>
              <a:spcBef>
                <a:spcPts val="400"/>
              </a:spcBef>
              <a:spcAft>
                <a:spcPts val="200"/>
              </a:spcAft>
            </a:pPr>
            <a:r>
              <a:rPr sz="1400" b="1" i="0">
                <a:solidFill>
                  <a:srgbClr val="1F4E79"/>
                </a:solidFill>
                <a:latin typeface="Calibri"/>
              </a:rPr>
              <a:t>Three compute profiles (workflow/profiles/):</a:t>
            </a:r>
          </a:p>
          <a:p>
            <a:pPr lvl="1">
              <a:spcBef>
                <a:spcPts val="400"/>
              </a:spcBef>
              <a:spcAft>
                <a:spcPts val="200"/>
              </a:spcAft>
            </a:pPr>
            <a:r>
              <a:rPr sz="1400" b="0" i="0">
                <a:solidFill>
                  <a:srgbClr val="333333"/>
                </a:solidFill>
                <a:latin typeface="Calibri"/>
              </a:rPr>
              <a:t>local/ -- CPU-only on laptop</a:t>
            </a:r>
          </a:p>
          <a:p>
            <a:pPr lvl="1">
              <a:spcBef>
                <a:spcPts val="400"/>
              </a:spcBef>
              <a:spcAft>
                <a:spcPts val="200"/>
              </a:spcAft>
            </a:pPr>
            <a:r>
              <a:rPr sz="1400" b="0" i="0">
                <a:solidFill>
                  <a:srgbClr val="333333"/>
                </a:solidFill>
                <a:latin typeface="Calibri"/>
              </a:rPr>
              <a:t>local-gpu/ -- all stages on local GPU</a:t>
            </a:r>
          </a:p>
          <a:p>
            <a:pPr lvl="1">
              <a:spcBef>
                <a:spcPts val="400"/>
              </a:spcBef>
              <a:spcAft>
                <a:spcPts val="200"/>
              </a:spcAft>
            </a:pPr>
            <a:r>
              <a:rPr sz="1400" b="0" i="0">
                <a:solidFill>
                  <a:srgbClr val="333333"/>
                </a:solidFill>
                <a:latin typeface="Calibri"/>
              </a:rPr>
              <a:t>aws-batch/ -- full cloud pipeline (managed job queue)</a:t>
            </a:r>
          </a:p>
          <a:p>
            <a:pPr>
              <a:spcBef>
                <a:spcPts val="400"/>
              </a:spcBef>
              <a:spcAft>
                <a:spcPts val="200"/>
              </a:spcAft>
            </a:pPr>
            <a:r>
              <a:rPr sz="1400" b="1" i="0">
                <a:solidFill>
                  <a:srgbClr val="1F4E79"/>
                </a:solidFill>
                <a:latin typeface="Calibri"/>
              </a:rPr>
              <a:t>Docker images (docker/):</a:t>
            </a:r>
          </a:p>
          <a:p>
            <a:pPr lvl="1">
              <a:spcBef>
                <a:spcPts val="400"/>
              </a:spcBef>
              <a:spcAft>
                <a:spcPts val="200"/>
              </a:spcAft>
            </a:pPr>
            <a:r>
              <a:rPr sz="1400" b="0" i="0">
                <a:solidFill>
                  <a:srgbClr val="333333"/>
                </a:solidFill>
                <a:latin typeface="Calibri"/>
              </a:rPr>
              <a:t>gpu.Dockerfile -- CUDA 12.1 + Suite2p + DLC</a:t>
            </a:r>
          </a:p>
          <a:p>
            <a:pPr lvl="1">
              <a:spcBef>
                <a:spcPts val="400"/>
              </a:spcBef>
              <a:spcAft>
                <a:spcPts val="200"/>
              </a:spcAft>
            </a:pPr>
            <a:r>
              <a:rPr sz="1400" b="0" i="0">
                <a:solidFill>
                  <a:srgbClr val="333333"/>
                </a:solidFill>
                <a:latin typeface="Calibri"/>
              </a:rPr>
              <a:t>cpu.Dockerfile -- CPU-only stages (movement, calcium, sync)</a:t>
            </a:r>
          </a:p>
          <a:p>
            <a:pPr lvl="1">
              <a:spcBef>
                <a:spcPts val="400"/>
              </a:spcBef>
              <a:spcAft>
                <a:spcPts val="200"/>
              </a:spcAft>
            </a:pPr>
            <a:r>
              <a:rPr sz="1400" b="0" i="0">
                <a:solidFill>
                  <a:srgbClr val="333333"/>
                </a:solidFill>
                <a:latin typeface="Calibri"/>
              </a:rPr>
              <a:t>kpms.Dockerfile -- keypoint-MoSeq isolated environment</a:t>
            </a:r>
          </a:p>
          <a:p>
            <a:pPr lvl="1">
              <a:spcBef>
                <a:spcPts val="400"/>
              </a:spcBef>
              <a:spcAft>
                <a:spcPts val="200"/>
              </a:spcAft>
            </a:pPr>
            <a:r>
              <a:rPr sz="1400" b="0" i="0">
                <a:solidFill>
                  <a:srgbClr val="333333"/>
                </a:solidFill>
                <a:latin typeface="Calibri"/>
              </a:rPr>
              <a:t>cascade.Dockerfile -- CASCADE with tensorflow (Python 3.8 / TF 2.3)</a:t>
            </a:r>
          </a:p>
          <a:p>
            <a:pPr>
              <a:spcBef>
                <a:spcPts val="400"/>
              </a:spcBef>
              <a:spcAft>
                <a:spcPts val="200"/>
              </a:spcAft>
            </a:pPr>
            <a:r>
              <a:rPr sz="1400" b="1" i="0">
                <a:solidFill>
                  <a:srgbClr val="1F4E79"/>
                </a:solidFill>
                <a:latin typeface="Calibri"/>
              </a:rPr>
              <a:t>Direct runner scripts:</a:t>
            </a:r>
            <a:r>
              <a:rPr sz="1400" b="0" i="0">
                <a:solidFill>
                  <a:srgbClr val="333333"/>
                </a:solidFill>
                <a:latin typeface="Calibri"/>
              </a:rPr>
              <a:t> scripts/run_stage{0,3,4,5,6}_*.py (bypass Snakemake)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Data Standards -- HDF5 Schemas</a:t>
            </a:r>
          </a:p>
        </p:txBody>
      </p:sp>
      <p:graphicFrame>
        <p:nvGraphicFramePr>
          <p:cNvPr id="3" name="Table 2"/>
          <p:cNvGraphicFramePr>
            <a:graphicFrameLocks noGrp="1"/>
          </p:cNvGraphicFramePr>
          <p:nvPr/>
        </p:nvGraphicFramePr>
        <p:xfrm>
          <a:off x="457200" y="1188720"/>
          <a:ext cx="11247120" cy="3017520"/>
        </p:xfrm>
        <a:graphic>
          <a:graphicData uri="http://schemas.openxmlformats.org/drawingml/2006/table">
            <a:tbl>
              <a:tblPr firstRow="1" bandRow="1">
                <a:tableStyleId>{5C22544A-7EE6-4342-B048-85BDC9FD1C3A}</a:tableStyleId>
              </a:tblPr>
              <a:tblGrid>
                <a:gridCol w="2286000"/>
                <a:gridCol w="5029200"/>
                <a:gridCol w="2103120"/>
                <a:gridCol w="1828800"/>
              </a:tblGrid>
              <a:tr h="502920">
                <a:tc>
                  <a:txBody>
                    <a:bodyPr/>
                    <a:lstStyle/>
                    <a:p>
                      <a:r>
                        <a:rPr sz="1300" b="1" i="0">
                          <a:solidFill>
                            <a:srgbClr val="FFFFFF"/>
                          </a:solidFill>
                          <a:latin typeface="Calibri"/>
                        </a:rPr>
                        <a:t>File</a:t>
                      </a:r>
                    </a:p>
                  </a:txBody>
                  <a:tcPr anchor="ctr">
                    <a:solidFill>
                      <a:srgbClr val="1F4E79"/>
                    </a:solidFill>
                  </a:tcPr>
                </a:tc>
                <a:tc>
                  <a:txBody>
                    <a:bodyPr/>
                    <a:lstStyle/>
                    <a:p>
                      <a:r>
                        <a:rPr sz="1300" b="1" i="0">
                          <a:solidFill>
                            <a:srgbClr val="FFFFFF"/>
                          </a:solidFill>
                          <a:latin typeface="Calibri"/>
                        </a:rPr>
                        <a:t>Key Datasets</a:t>
                      </a:r>
                    </a:p>
                  </a:txBody>
                  <a:tcPr anchor="ctr">
                    <a:solidFill>
                      <a:srgbClr val="1F4E79"/>
                    </a:solidFill>
                  </a:tcPr>
                </a:tc>
                <a:tc>
                  <a:txBody>
                    <a:bodyPr/>
                    <a:lstStyle/>
                    <a:p>
                      <a:r>
                        <a:rPr sz="1300" b="1" i="0">
                          <a:solidFill>
                            <a:srgbClr val="FFFFFF"/>
                          </a:solidFill>
                          <a:latin typeface="Calibri"/>
                        </a:rPr>
                        <a:t>Shape</a:t>
                      </a:r>
                    </a:p>
                  </a:txBody>
                  <a:tcPr anchor="ctr">
                    <a:solidFill>
                      <a:srgbClr val="1F4E79"/>
                    </a:solidFill>
                  </a:tcPr>
                </a:tc>
                <a:tc>
                  <a:txBody>
                    <a:bodyPr/>
                    <a:lstStyle/>
                    <a:p>
                      <a:r>
                        <a:rPr sz="1300" b="1" i="0">
                          <a:solidFill>
                            <a:srgbClr val="FFFFFF"/>
                          </a:solidFill>
                          <a:latin typeface="Calibri"/>
                        </a:rPr>
                        <a:t>Rate</a:t>
                      </a:r>
                    </a:p>
                  </a:txBody>
                  <a:tcPr anchor="ctr">
                    <a:solidFill>
                      <a:srgbClr val="1F4E79"/>
                    </a:solidFill>
                  </a:tcPr>
                </a:tc>
              </a:tr>
              <a:tr h="502920">
                <a:tc>
                  <a:txBody>
                    <a:bodyPr/>
                    <a:lstStyle/>
                    <a:p>
                      <a:r>
                        <a:rPr sz="1200" b="0" i="0">
                          <a:solidFill>
                            <a:srgbClr val="333333"/>
                          </a:solidFill>
                          <a:latin typeface="Calibri"/>
                        </a:rPr>
                        <a:t>timestamps.h5</a:t>
                      </a:r>
                    </a:p>
                  </a:txBody>
                  <a:tcPr anchor="ctr">
                    <a:solidFill>
                      <a:srgbClr val="FFFFFF"/>
                    </a:solidFill>
                  </a:tcPr>
                </a:tc>
                <a:tc>
                  <a:txBody>
                    <a:bodyPr/>
                    <a:lstStyle/>
                    <a:p>
                      <a:r>
                        <a:rPr sz="1200" b="0" i="0">
                          <a:solidFill>
                            <a:srgbClr val="333333"/>
                          </a:solidFill>
                          <a:latin typeface="Calibri"/>
                        </a:rPr>
                        <a:t>frame_times_camera, frame_times_imaging, light_on_times</a:t>
                      </a:r>
                    </a:p>
                  </a:txBody>
                  <a:tcPr anchor="ctr">
                    <a:solidFill>
                      <a:srgbClr val="FFFFFF"/>
                    </a:solidFill>
                  </a:tcPr>
                </a:tc>
                <a:tc>
                  <a:txBody>
                    <a:bodyPr/>
                    <a:lstStyle/>
                    <a:p>
                      <a:r>
                        <a:rPr sz="1200" b="0" i="0">
                          <a:solidFill>
                            <a:srgbClr val="333333"/>
                          </a:solidFill>
                          <a:latin typeface="Calibri"/>
                        </a:rPr>
                        <a:t>(N,), (T,), (L,)</a:t>
                      </a:r>
                    </a:p>
                  </a:txBody>
                  <a:tcPr anchor="ctr">
                    <a:solidFill>
                      <a:srgbClr val="FFFFFF"/>
                    </a:solidFill>
                  </a:tcPr>
                </a:tc>
                <a:tc>
                  <a:txBody>
                    <a:bodyPr/>
                    <a:lstStyle/>
                    <a:p>
                      <a:r>
                        <a:rPr sz="1200" b="0" i="0">
                          <a:solidFill>
                            <a:srgbClr val="333333"/>
                          </a:solidFill>
                          <a:latin typeface="Calibri"/>
                        </a:rPr>
                        <a:t>--</a:t>
                      </a:r>
                    </a:p>
                  </a:txBody>
                  <a:tcPr anchor="ctr">
                    <a:solidFill>
                      <a:srgbClr val="FFFFFF"/>
                    </a:solidFill>
                  </a:tcPr>
                </a:tc>
              </a:tr>
              <a:tr h="502920">
                <a:tc>
                  <a:txBody>
                    <a:bodyPr/>
                    <a:lstStyle/>
                    <a:p>
                      <a:r>
                        <a:rPr sz="1200" b="0" i="0">
                          <a:solidFill>
                            <a:srgbClr val="333333"/>
                          </a:solidFill>
                          <a:latin typeface="Calibri"/>
                        </a:rPr>
                        <a:t>kinematics.h5</a:t>
                      </a:r>
                    </a:p>
                  </a:txBody>
                  <a:tcPr anchor="ctr">
                    <a:solidFill>
                      <a:srgbClr val="F2F2F2"/>
                    </a:solidFill>
                  </a:tcPr>
                </a:tc>
                <a:tc>
                  <a:txBody>
                    <a:bodyPr/>
                    <a:lstStyle/>
                    <a:p>
                      <a:r>
                        <a:rPr sz="1200" b="0" i="0">
                          <a:solidFill>
                            <a:srgbClr val="333333"/>
                          </a:solidFill>
                          <a:latin typeface="Calibri"/>
                        </a:rPr>
                        <a:t>hd_deg, x_mm, y_mm, speed_cm_s, ahv_deg_s, active, light_on</a:t>
                      </a:r>
                    </a:p>
                  </a:txBody>
                  <a:tcPr anchor="ctr">
                    <a:solidFill>
                      <a:srgbClr val="F2F2F2"/>
                    </a:solidFill>
                  </a:tcPr>
                </a:tc>
                <a:tc>
                  <a:txBody>
                    <a:bodyPr/>
                    <a:lstStyle/>
                    <a:p>
                      <a:r>
                        <a:rPr sz="1200" b="0" i="0">
                          <a:solidFill>
                            <a:srgbClr val="333333"/>
                          </a:solidFill>
                          <a:latin typeface="Calibri"/>
                        </a:rPr>
                        <a:t>(N,)</a:t>
                      </a:r>
                    </a:p>
                  </a:txBody>
                  <a:tcPr anchor="ctr">
                    <a:solidFill>
                      <a:srgbClr val="F2F2F2"/>
                    </a:solidFill>
                  </a:tcPr>
                </a:tc>
                <a:tc>
                  <a:txBody>
                    <a:bodyPr/>
                    <a:lstStyle/>
                    <a:p>
                      <a:r>
                        <a:rPr sz="1200" b="0" i="0">
                          <a:solidFill>
                            <a:srgbClr val="333333"/>
                          </a:solidFill>
                          <a:latin typeface="Calibri"/>
                        </a:rPr>
                        <a:t>~100 Hz</a:t>
                      </a:r>
                    </a:p>
                  </a:txBody>
                  <a:tcPr anchor="ctr">
                    <a:solidFill>
                      <a:srgbClr val="F2F2F2"/>
                    </a:solidFill>
                  </a:tcPr>
                </a:tc>
              </a:tr>
              <a:tr h="502920">
                <a:tc>
                  <a:txBody>
                    <a:bodyPr/>
                    <a:lstStyle/>
                    <a:p>
                      <a:r>
                        <a:rPr sz="1200" b="0" i="0">
                          <a:solidFill>
                            <a:srgbClr val="333333"/>
                          </a:solidFill>
                          <a:latin typeface="Calibri"/>
                        </a:rPr>
                        <a:t>ca.h5</a:t>
                      </a:r>
                    </a:p>
                  </a:txBody>
                  <a:tcPr anchor="ctr">
                    <a:solidFill>
                      <a:srgbClr val="FFFFFF"/>
                    </a:solidFill>
                  </a:tcPr>
                </a:tc>
                <a:tc>
                  <a:txBody>
                    <a:bodyPr/>
                    <a:lstStyle/>
                    <a:p>
                      <a:r>
                        <a:rPr sz="1200" b="0" i="0">
                          <a:solidFill>
                            <a:srgbClr val="333333"/>
                          </a:solidFill>
                          <a:latin typeface="Calibri"/>
                        </a:rPr>
                        <a:t>dff, spikes, event_masks, roi_types, snr</a:t>
                      </a:r>
                    </a:p>
                  </a:txBody>
                  <a:tcPr anchor="ctr">
                    <a:solidFill>
                      <a:srgbClr val="FFFFFF"/>
                    </a:solidFill>
                  </a:tcPr>
                </a:tc>
                <a:tc>
                  <a:txBody>
                    <a:bodyPr/>
                    <a:lstStyle/>
                    <a:p>
                      <a:r>
                        <a:rPr sz="1200" b="0" i="0">
                          <a:solidFill>
                            <a:srgbClr val="333333"/>
                          </a:solidFill>
                          <a:latin typeface="Calibri"/>
                        </a:rPr>
                        <a:t>(R,T), (R,), (R,)</a:t>
                      </a:r>
                    </a:p>
                  </a:txBody>
                  <a:tcPr anchor="ctr">
                    <a:solidFill>
                      <a:srgbClr val="FFFFFF"/>
                    </a:solidFill>
                  </a:tcPr>
                </a:tc>
                <a:tc>
                  <a:txBody>
                    <a:bodyPr/>
                    <a:lstStyle/>
                    <a:p>
                      <a:r>
                        <a:rPr sz="1200" b="0" i="0">
                          <a:solidFill>
                            <a:srgbClr val="333333"/>
                          </a:solidFill>
                          <a:latin typeface="Calibri"/>
                        </a:rPr>
                        <a:t>~9.6 Hz</a:t>
                      </a:r>
                    </a:p>
                  </a:txBody>
                  <a:tcPr anchor="ctr">
                    <a:solidFill>
                      <a:srgbClr val="FFFFFF"/>
                    </a:solidFill>
                  </a:tcPr>
                </a:tc>
              </a:tr>
              <a:tr h="502920">
                <a:tc>
                  <a:txBody>
                    <a:bodyPr/>
                    <a:lstStyle/>
                    <a:p>
                      <a:r>
                        <a:rPr sz="1200" b="0" i="0">
                          <a:solidFill>
                            <a:srgbClr val="333333"/>
                          </a:solidFill>
                          <a:latin typeface="Calibri"/>
                        </a:rPr>
                        <a:t>sync.h5</a:t>
                      </a:r>
                    </a:p>
                  </a:txBody>
                  <a:tcPr anchor="ctr">
                    <a:solidFill>
                      <a:srgbClr val="F2F2F2"/>
                    </a:solidFill>
                  </a:tcPr>
                </a:tc>
                <a:tc>
                  <a:txBody>
                    <a:bodyPr/>
                    <a:lstStyle/>
                    <a:p>
                      <a:r>
                        <a:rPr sz="1200" b="0" i="0">
                          <a:solidFill>
                            <a:srgbClr val="333333"/>
                          </a:solidFill>
                          <a:latin typeface="Calibri"/>
                        </a:rPr>
                        <a:t>All kinematics (resampled) + all calcium (verbatim)</a:t>
                      </a:r>
                    </a:p>
                  </a:txBody>
                  <a:tcPr anchor="ctr">
                    <a:solidFill>
                      <a:srgbClr val="F2F2F2"/>
                    </a:solidFill>
                  </a:tcPr>
                </a:tc>
                <a:tc>
                  <a:txBody>
                    <a:bodyPr/>
                    <a:lstStyle/>
                    <a:p>
                      <a:r>
                        <a:rPr sz="1200" b="0" i="0">
                          <a:solidFill>
                            <a:srgbClr val="333333"/>
                          </a:solidFill>
                          <a:latin typeface="Calibri"/>
                        </a:rPr>
                        <a:t>(T,), (R,T)</a:t>
                      </a:r>
                    </a:p>
                  </a:txBody>
                  <a:tcPr anchor="ctr">
                    <a:solidFill>
                      <a:srgbClr val="F2F2F2"/>
                    </a:solidFill>
                  </a:tcPr>
                </a:tc>
                <a:tc>
                  <a:txBody>
                    <a:bodyPr/>
                    <a:lstStyle/>
                    <a:p>
                      <a:r>
                        <a:rPr sz="1200" b="0" i="0">
                          <a:solidFill>
                            <a:srgbClr val="333333"/>
                          </a:solidFill>
                          <a:latin typeface="Calibri"/>
                        </a:rPr>
                        <a:t>~9.6 Hz</a:t>
                      </a:r>
                    </a:p>
                  </a:txBody>
                  <a:tcPr anchor="ctr">
                    <a:solidFill>
                      <a:srgbClr val="F2F2F2"/>
                    </a:solidFill>
                  </a:tcPr>
                </a:tc>
              </a:tr>
              <a:tr h="502920">
                <a:tc>
                  <a:txBody>
                    <a:bodyPr/>
                    <a:lstStyle/>
                    <a:p>
                      <a:r>
                        <a:rPr sz="1200" b="0" i="0">
                          <a:solidFill>
                            <a:srgbClr val="333333"/>
                          </a:solidFill>
                          <a:latin typeface="Calibri"/>
                        </a:rPr>
                        <a:t>analysis.h5</a:t>
                      </a:r>
                    </a:p>
                  </a:txBody>
                  <a:tcPr anchor="ctr">
                    <a:solidFill>
                      <a:srgbClr val="FFFFFF"/>
                    </a:solidFill>
                  </a:tcPr>
                </a:tc>
                <a:tc>
                  <a:txBody>
                    <a:bodyPr/>
                    <a:lstStyle/>
                    <a:p>
                      <a:r>
                        <a:rPr sz="1200" b="0" i="0">
                          <a:solidFill>
                            <a:srgbClr val="333333"/>
                          </a:solidFill>
                          <a:latin typeface="Calibri"/>
                        </a:rPr>
                        <a:t>tuning_curves, pd, mvl, rayleigh_p, is_hd, decoder_error</a:t>
                      </a:r>
                    </a:p>
                  </a:txBody>
                  <a:tcPr anchor="ctr">
                    <a:solidFill>
                      <a:srgbClr val="FFFFFF"/>
                    </a:solidFill>
                  </a:tcPr>
                </a:tc>
                <a:tc>
                  <a:txBody>
                    <a:bodyPr/>
                    <a:lstStyle/>
                    <a:p>
                      <a:r>
                        <a:rPr sz="1200" b="0" i="0">
                          <a:solidFill>
                            <a:srgbClr val="333333"/>
                          </a:solidFill>
                          <a:latin typeface="Calibri"/>
                        </a:rPr>
                        <a:t>(R,B), (R,)</a:t>
                      </a:r>
                    </a:p>
                  </a:txBody>
                  <a:tcPr anchor="ctr">
                    <a:solidFill>
                      <a:srgbClr val="FFFFFF"/>
                    </a:solidFill>
                  </a:tcPr>
                </a:tc>
                <a:tc>
                  <a:txBody>
                    <a:bodyPr/>
                    <a:lstStyle/>
                    <a:p>
                      <a:r>
                        <a:rPr sz="1200" b="0" i="0">
                          <a:solidFill>
                            <a:srgbClr val="333333"/>
                          </a:solidFill>
                          <a:latin typeface="Calibri"/>
                        </a:rPr>
                        <a:t>--</a:t>
                      </a:r>
                    </a:p>
                  </a:txBody>
                  <a:tcPr anchor="ctr">
                    <a:solidFill>
                      <a:srgbClr val="FFFFFF"/>
                    </a:solidFill>
                  </a:tcPr>
                </a:tc>
              </a:tr>
            </a:tbl>
          </a:graphicData>
        </a:graphic>
      </p:graphicFrame>
      <p:sp>
        <p:nvSpPr>
          <p:cNvPr id="4" name="TextBox 3"/>
          <p:cNvSpPr txBox="1"/>
          <p:nvPr/>
        </p:nvSpPr>
        <p:spPr>
          <a:xfrm>
            <a:off x="457200" y="4114800"/>
            <a:ext cx="11247120" cy="5029200"/>
          </a:xfrm>
          <a:prstGeom prst="rect">
            <a:avLst/>
          </a:prstGeom>
          <a:noFill/>
        </p:spPr>
        <p:txBody>
          <a:bodyPr wrap="square">
            <a:spAutoFit/>
          </a:bodyPr>
          <a:lstStyle/>
          <a:p>
            <a:pPr>
              <a:spcBef>
                <a:spcPts val="400"/>
              </a:spcBef>
              <a:spcAft>
                <a:spcPts val="200"/>
              </a:spcAft>
            </a:pPr>
            <a:r>
              <a:rPr sz="1300" b="1" i="0">
                <a:solidFill>
                  <a:srgbClr val="1F4E79"/>
                </a:solidFill>
                <a:latin typeface="Calibri"/>
              </a:rPr>
              <a:t>Consistent indexing:</a:t>
            </a:r>
            <a:r>
              <a:rPr sz="1300" b="0" i="0">
                <a:solidFill>
                  <a:srgbClr val="333333"/>
                </a:solidFill>
                <a:latin typeface="Calibri"/>
              </a:rPr>
              <a:t> arrays are time-first (C-contiguous for fast row slicing)</a:t>
            </a:r>
          </a:p>
          <a:p>
            <a:pPr>
              <a:spcBef>
                <a:spcPts val="400"/>
              </a:spcBef>
              <a:spcAft>
                <a:spcPts val="200"/>
              </a:spcAft>
            </a:pPr>
            <a:r>
              <a:rPr sz="1300" b="1" i="0">
                <a:solidFill>
                  <a:srgbClr val="1F4E79"/>
                </a:solidFill>
                <a:latin typeface="Calibri"/>
              </a:rPr>
              <a:t>Timestamps:</a:t>
            </a:r>
            <a:r>
              <a:rPr sz="1300" b="0" i="0">
                <a:solidFill>
                  <a:srgbClr val="333333"/>
                </a:solidFill>
                <a:latin typeface="Calibri"/>
              </a:rPr>
              <a:t> float64 seconds since session start</a:t>
            </a:r>
          </a:p>
          <a:p>
            <a:pPr>
              <a:spcBef>
                <a:spcPts val="400"/>
              </a:spcBef>
              <a:spcAft>
                <a:spcPts val="200"/>
              </a:spcAft>
            </a:pPr>
            <a:r>
              <a:rPr sz="1300" b="1" i="0">
                <a:solidFill>
                  <a:srgbClr val="1F4E79"/>
                </a:solidFill>
                <a:latin typeface="Calibri"/>
              </a:rPr>
              <a:t>Units in dataset names:</a:t>
            </a:r>
            <a:r>
              <a:rPr sz="1300" b="0" i="0">
                <a:solidFill>
                  <a:srgbClr val="333333"/>
                </a:solidFill>
                <a:latin typeface="Calibri"/>
              </a:rPr>
              <a:t> hd_deg, speed_cm_s, ahv_deg_s, x_mm, y_mm</a:t>
            </a:r>
          </a:p>
          <a:p>
            <a:pPr>
              <a:spcBef>
                <a:spcPts val="400"/>
              </a:spcBef>
              <a:spcAft>
                <a:spcPts val="200"/>
              </a:spcAft>
            </a:pPr>
            <a:r>
              <a:rPr sz="1300" b="1" i="0">
                <a:solidFill>
                  <a:srgbClr val="1F4E79"/>
                </a:solidFill>
                <a:latin typeface="Calibri"/>
              </a:rPr>
              <a:t>Validation:</a:t>
            </a:r>
            <a:r>
              <a:rPr sz="1300" b="0" i="0">
                <a:solidFill>
                  <a:srgbClr val="333333"/>
                </a:solidFill>
                <a:latin typeface="Calibri"/>
              </a:rPr>
              <a:t> pandera schemas in src/hm2p/io/hdf5.py</a:t>
            </a:r>
          </a:p>
          <a:p>
            <a:pPr>
              <a:spcBef>
                <a:spcPts val="400"/>
              </a:spcBef>
              <a:spcAft>
                <a:spcPts val="200"/>
              </a:spcAft>
            </a:pPr>
            <a:r>
              <a:rPr sz="1300" b="1" i="0">
                <a:solidFill>
                  <a:srgbClr val="1F4E79"/>
                </a:solidFill>
                <a:latin typeface="Calibri"/>
              </a:rPr>
              <a:t>Provenance attributes:</a:t>
            </a:r>
            <a:r>
              <a:rPr sz="1300" b="0" i="0">
                <a:solidFill>
                  <a:srgbClr val="333333"/>
                </a:solidFill>
                <a:latin typeface="Calibri"/>
              </a:rPr>
              <a:t> session_id, fps_imaging, dlc_model_name, dlc_champion_id</a:t>
            </a:r>
          </a:p>
          <a:p>
            <a:pPr>
              <a:spcBef>
                <a:spcPts val="400"/>
              </a:spcBef>
              <a:spcAft>
                <a:spcPts val="200"/>
              </a:spcAft>
            </a:pPr>
            <a:r>
              <a:rPr sz="1300" b="1" i="0">
                <a:solidFill>
                  <a:srgbClr val="1F4E79"/>
                </a:solidFill>
                <a:latin typeface="Calibri"/>
              </a:rPr>
              <a:t>Backward compatibility aliases:</a:t>
            </a:r>
            <a:r>
              <a:rPr sz="1300" b="0" i="0">
                <a:solidFill>
                  <a:srgbClr val="333333"/>
                </a:solidFill>
                <a:latin typeface="Calibri"/>
              </a:rPr>
              <a:t> x_mm = x_body_mm, speed_cm_s = speed_body_cm_s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Code Quality &amp; Testing</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400" b="0" i="0">
                <a:solidFill>
                  <a:srgbClr val="333333"/>
                </a:solidFill>
                <a:latin typeface="Calibri"/>
              </a:rPr>
              <a:t>117 test files in tests/ mirroring src/hm2p/ structure</a:t>
            </a:r>
          </a:p>
          <a:p>
            <a:pPr>
              <a:spcBef>
                <a:spcPts val="400"/>
              </a:spcBef>
              <a:spcAft>
                <a:spcPts val="200"/>
              </a:spcAft>
            </a:pPr>
            <a:r>
              <a:rPr sz="1400" b="1" i="0">
                <a:solidFill>
                  <a:srgbClr val="1F4E79"/>
                </a:solidFill>
                <a:latin typeface="Calibri"/>
              </a:rPr>
              <a:t>Coverage target:</a:t>
            </a:r>
            <a:r>
              <a:rPr sz="1400" b="0" i="0">
                <a:solidFill>
                  <a:srgbClr val="333333"/>
                </a:solidFill>
                <a:latin typeface="Calibri"/>
              </a:rPr>
              <a:t> &gt;= 90% (hard requirement)</a:t>
            </a:r>
          </a:p>
          <a:p>
            <a:pPr>
              <a:spcBef>
                <a:spcPts val="400"/>
              </a:spcBef>
              <a:spcAft>
                <a:spcPts val="200"/>
              </a:spcAft>
            </a:pPr>
            <a:r>
              <a:rPr sz="1400" b="1" i="0">
                <a:solidFill>
                  <a:srgbClr val="1F4E79"/>
                </a:solidFill>
                <a:latin typeface="Calibri"/>
              </a:rPr>
              <a:t>Testing frameworks:</a:t>
            </a:r>
          </a:p>
          <a:p>
            <a:pPr lvl="1">
              <a:spcBef>
                <a:spcPts val="400"/>
              </a:spcBef>
              <a:spcAft>
                <a:spcPts val="200"/>
              </a:spcAft>
            </a:pPr>
            <a:r>
              <a:rPr sz="1400" b="0" i="0">
                <a:solidFill>
                  <a:srgbClr val="333333"/>
                </a:solidFill>
                <a:latin typeface="Calibri"/>
              </a:rPr>
              <a:t>pytest + pytest-cov -- standard unit tests + coverage</a:t>
            </a:r>
          </a:p>
          <a:p>
            <a:pPr lvl="1">
              <a:spcBef>
                <a:spcPts val="400"/>
              </a:spcBef>
              <a:spcAft>
                <a:spcPts val="200"/>
              </a:spcAft>
            </a:pPr>
            <a:r>
              <a:rPr sz="1400" b="0" i="0">
                <a:solidFill>
                  <a:srgbClr val="333333"/>
                </a:solidFill>
                <a:latin typeface="Calibri"/>
              </a:rPr>
              <a:t>hypothesis -- property-based testing for numerical functions</a:t>
            </a:r>
          </a:p>
          <a:p>
            <a:pPr lvl="1">
              <a:spcBef>
                <a:spcPts val="400"/>
              </a:spcBef>
              <a:spcAft>
                <a:spcPts val="200"/>
              </a:spcAft>
            </a:pPr>
            <a:r>
              <a:rPr sz="1400" b="0" i="0">
                <a:solidFill>
                  <a:srgbClr val="333333"/>
                </a:solidFill>
                <a:latin typeface="Calibri"/>
              </a:rPr>
              <a:t>pandera -- runtime schema validation in tests</a:t>
            </a:r>
          </a:p>
          <a:p>
            <a:pPr>
              <a:spcBef>
                <a:spcPts val="400"/>
              </a:spcBef>
              <a:spcAft>
                <a:spcPts val="200"/>
              </a:spcAft>
            </a:pPr>
            <a:r>
              <a:rPr sz="1400" b="1" i="0">
                <a:solidFill>
                  <a:srgbClr val="1F4E79"/>
                </a:solidFill>
                <a:latin typeface="Calibri"/>
              </a:rPr>
              <a:t>Pre-commit hooks:</a:t>
            </a:r>
            <a:r>
              <a:rPr sz="1400" b="0" i="0">
                <a:solidFill>
                  <a:srgbClr val="333333"/>
                </a:solidFill>
                <a:latin typeface="Calibri"/>
              </a:rPr>
              <a:t> ruff (format + lint), mypy (strict), nbstripout, detect-secrets</a:t>
            </a:r>
          </a:p>
          <a:p>
            <a:pPr>
              <a:spcBef>
                <a:spcPts val="400"/>
              </a:spcBef>
              <a:spcAft>
                <a:spcPts val="200"/>
              </a:spcAft>
            </a:pPr>
            <a:r>
              <a:rPr sz="1400" b="1" i="0">
                <a:solidFill>
                  <a:srgbClr val="1F4E79"/>
                </a:solidFill>
                <a:latin typeface="Calibri"/>
              </a:rPr>
              <a:t>CI:</a:t>
            </a:r>
            <a:r>
              <a:rPr sz="1400" b="0" i="0">
                <a:solidFill>
                  <a:srgbClr val="333333"/>
                </a:solidFill>
                <a:latin typeface="Calibri"/>
              </a:rPr>
              <a:t> GitHub Actions -- ci.yml (pytest on Python 3.11 + 3.12), lint.yml (ruff + mypy)</a:t>
            </a:r>
          </a:p>
          <a:p>
            <a:pPr>
              <a:spcBef>
                <a:spcPts val="400"/>
              </a:spcBef>
              <a:spcAft>
                <a:spcPts val="200"/>
              </a:spcAft>
            </a:pPr>
            <a:r>
              <a:rPr sz="1400" b="1" i="0">
                <a:solidFill>
                  <a:srgbClr val="1F4E79"/>
                </a:solidFill>
                <a:latin typeface="Calibri"/>
              </a:rPr>
              <a:t>Security:</a:t>
            </a:r>
            <a:r>
              <a:rPr sz="1400" b="0" i="0">
                <a:solidFill>
                  <a:srgbClr val="333333"/>
                </a:solidFill>
                <a:latin typeface="Calibri"/>
              </a:rPr>
              <a:t> bandit, checkov, detect-secrets, pip-audit, vulture</a:t>
            </a:r>
          </a:p>
          <a:p>
            <a:pPr>
              <a:spcBef>
                <a:spcPts val="400"/>
              </a:spcBef>
              <a:spcAft>
                <a:spcPts val="200"/>
              </a:spcAft>
            </a:pPr>
            <a:r>
              <a:rPr sz="1400" b="1" i="0">
                <a:solidFill>
                  <a:srgbClr val="1F4E79"/>
                </a:solidFill>
                <a:latin typeface="Calibri"/>
              </a:rPr>
              <a:t>Test rules:</a:t>
            </a:r>
          </a:p>
          <a:p>
            <a:pPr lvl="1">
              <a:spcBef>
                <a:spcPts val="400"/>
              </a:spcBef>
              <a:spcAft>
                <a:spcPts val="200"/>
              </a:spcAft>
            </a:pPr>
            <a:r>
              <a:rPr sz="1400" b="0" i="0">
                <a:solidFill>
                  <a:srgbClr val="333333"/>
                </a:solidFill>
                <a:latin typeface="Calibri"/>
              </a:rPr>
              <a:t>Synthetic data only -- never read real data files</a:t>
            </a:r>
          </a:p>
          <a:p>
            <a:pPr lvl="1">
              <a:spcBef>
                <a:spcPts val="400"/>
              </a:spcBef>
              <a:spcAft>
                <a:spcPts val="200"/>
              </a:spcAft>
            </a:pPr>
            <a:r>
              <a:rPr sz="1400" b="0" i="0">
                <a:solidFill>
                  <a:srgbClr val="333333"/>
                </a:solidFill>
                <a:latin typeface="Calibri"/>
              </a:rPr>
              <a:t>Every function (public and private) must have at least one test</a:t>
            </a:r>
          </a:p>
          <a:p>
            <a:pPr lvl="1">
              <a:spcBef>
                <a:spcPts val="400"/>
              </a:spcBef>
              <a:spcAft>
                <a:spcPts val="200"/>
              </a:spcAft>
            </a:pPr>
            <a:r>
              <a:rPr sz="1400" b="0" i="0">
                <a:solidFill>
                  <a:srgbClr val="333333"/>
                </a:solidFill>
                <a:latin typeface="Calibri"/>
              </a:rPr>
              <a:t>Non-parametric statistics tests verify parametric alternatives never used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Source Code Layout</a:t>
            </a:r>
          </a:p>
        </p:txBody>
      </p:sp>
      <p:sp>
        <p:nvSpPr>
          <p:cNvPr id="3" name="Rectangle 2"/>
          <p:cNvSpPr/>
          <p:nvPr/>
        </p:nvSpPr>
        <p:spPr>
          <a:xfrm>
            <a:off x="457200" y="1188720"/>
            <a:ext cx="11247120" cy="4206240"/>
          </a:xfrm>
          <a:prstGeom prst="rect">
            <a:avLst/>
          </a:prstGeom>
          <a:solidFill>
            <a:srgbClr val="F8F8F8"/>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Bef>
                <a:spcPts val="200"/>
              </a:spcBef>
            </a:pPr>
            <a:r>
              <a:rPr sz="1400" b="1" i="0">
                <a:solidFill>
                  <a:srgbClr val="1F4E79"/>
                </a:solidFill>
                <a:latin typeface="Consolas"/>
              </a:rPr>
              <a:t>src/hm2p/</a:t>
            </a:r>
          </a:p>
          <a:p>
            <a:pPr>
              <a:spcBef>
                <a:spcPts val="200"/>
              </a:spcBef>
            </a:pPr>
            <a:r>
              <a:rPr sz="1400" b="1" i="0">
                <a:solidFill>
                  <a:srgbClr val="1F4E79"/>
                </a:solidFill>
                <a:latin typeface="Consolas"/>
              </a:rPr>
              <a:t>  ingest/</a:t>
            </a:r>
            <a:r>
              <a:rPr sz="1300" b="0" i="0">
                <a:solidFill>
                  <a:srgbClr val="666666"/>
                </a:solidFill>
                <a:latin typeface="Consolas"/>
              </a:rPr>
              <a:t>  -- Stage 0: validate.py, daq.py</a:t>
            </a:r>
          </a:p>
          <a:p>
            <a:pPr>
              <a:spcBef>
                <a:spcPts val="200"/>
              </a:spcBef>
            </a:pPr>
            <a:r>
              <a:rPr sz="1400" b="1" i="0">
                <a:solidFill>
                  <a:srgbClr val="1F4E79"/>
                </a:solidFill>
                <a:latin typeface="Consolas"/>
              </a:rPr>
              <a:t>  extraction/</a:t>
            </a:r>
            <a:r>
              <a:rPr sz="1300" b="0" i="0">
                <a:solidFill>
                  <a:srgbClr val="666666"/>
                </a:solidFill>
                <a:latin typeface="Consolas"/>
              </a:rPr>
              <a:t>  -- Stage 1: suite2p.py, caiman.py, soma_features.py, curation.py</a:t>
            </a:r>
          </a:p>
          <a:p>
            <a:pPr>
              <a:spcBef>
                <a:spcPts val="200"/>
              </a:spcBef>
            </a:pPr>
            <a:r>
              <a:rPr sz="1400" b="1" i="0">
                <a:solidFill>
                  <a:srgbClr val="1F4E79"/>
                </a:solidFill>
                <a:latin typeface="Consolas"/>
              </a:rPr>
              <a:t>  pose/</a:t>
            </a:r>
            <a:r>
              <a:rPr sz="1300" b="0" i="0">
                <a:solidFill>
                  <a:srgbClr val="666666"/>
                </a:solidFill>
                <a:latin typeface="Consolas"/>
              </a:rPr>
              <a:t>  -- Stage 2: run.py, preprocess.py, quality.py, retrain.py, select.py</a:t>
            </a:r>
          </a:p>
          <a:p>
            <a:pPr>
              <a:spcBef>
                <a:spcPts val="200"/>
              </a:spcBef>
            </a:pPr>
            <a:r>
              <a:rPr sz="1400" b="1" i="0">
                <a:solidFill>
                  <a:srgbClr val="1F4E79"/>
                </a:solidFill>
                <a:latin typeface="Consolas"/>
              </a:rPr>
              <a:t>  kinematics/</a:t>
            </a:r>
            <a:r>
              <a:rPr sz="1300" b="0" i="0">
                <a:solidFill>
                  <a:srgbClr val="666666"/>
                </a:solidFill>
                <a:latin typeface="Consolas"/>
              </a:rPr>
              <a:t>  -- Stage 3: compute.py, perspective.py, syllables.py</a:t>
            </a:r>
          </a:p>
          <a:p>
            <a:pPr>
              <a:spcBef>
                <a:spcPts val="200"/>
              </a:spcBef>
            </a:pPr>
            <a:r>
              <a:rPr sz="1400" b="1" i="0">
                <a:solidFill>
                  <a:srgbClr val="1F4E79"/>
                </a:solidFill>
                <a:latin typeface="Consolas"/>
              </a:rPr>
              <a:t>  calcium/</a:t>
            </a:r>
            <a:r>
              <a:rPr sz="1300" b="0" i="0">
                <a:solidFill>
                  <a:srgbClr val="666666"/>
                </a:solidFill>
                <a:latin typeface="Consolas"/>
              </a:rPr>
              <a:t>  -- Stage 4: neuropil.py, dff.py, spikes.py, events.py, qc.py</a:t>
            </a:r>
          </a:p>
          <a:p>
            <a:pPr>
              <a:spcBef>
                <a:spcPts val="200"/>
              </a:spcBef>
            </a:pPr>
            <a:r>
              <a:rPr sz="1400" b="1" i="0">
                <a:solidFill>
                  <a:srgbClr val="1F4E79"/>
                </a:solidFill>
                <a:latin typeface="Consolas"/>
              </a:rPr>
              <a:t>  sync/</a:t>
            </a:r>
            <a:r>
              <a:rPr sz="1300" b="0" i="0">
                <a:solidFill>
                  <a:srgbClr val="666666"/>
                </a:solidFill>
                <a:latin typeface="Consolas"/>
              </a:rPr>
              <a:t>  -- Stage 5: align.py, validate.py, diagnostics.py, report.py</a:t>
            </a:r>
          </a:p>
          <a:p>
            <a:pPr>
              <a:spcBef>
                <a:spcPts val="200"/>
              </a:spcBef>
            </a:pPr>
            <a:r>
              <a:rPr sz="1400" b="1" i="0">
                <a:solidFill>
                  <a:srgbClr val="1F4E79"/>
                </a:solidFill>
                <a:latin typeface="Consolas"/>
              </a:rPr>
              <a:t>  analysis/</a:t>
            </a:r>
            <a:r>
              <a:rPr sz="1300" b="0" i="0">
                <a:solidFill>
                  <a:srgbClr val="666666"/>
                </a:solidFill>
                <a:latin typeface="Consolas"/>
              </a:rPr>
              <a:t>  -- Stage 6: 19 modules (tuning, decoder, stability, ...)</a:t>
            </a:r>
          </a:p>
          <a:p>
            <a:pPr>
              <a:spcBef>
                <a:spcPts val="200"/>
              </a:spcBef>
            </a:pPr>
            <a:r>
              <a:rPr sz="1400" b="1" i="0">
                <a:solidFill>
                  <a:srgbClr val="1F4E79"/>
                </a:solidFill>
                <a:latin typeface="Consolas"/>
              </a:rPr>
              <a:t>  maze/</a:t>
            </a:r>
            <a:r>
              <a:rPr sz="1300" b="0" i="0">
                <a:solidFill>
                  <a:srgbClr val="666666"/>
                </a:solidFill>
                <a:latin typeface="Consolas"/>
              </a:rPr>
              <a:t>  -- Maze topology + discretization + behavioural + neural</a:t>
            </a:r>
          </a:p>
          <a:p>
            <a:pPr>
              <a:spcBef>
                <a:spcPts val="200"/>
              </a:spcBef>
            </a:pPr>
            <a:r>
              <a:rPr sz="1400" b="1" i="0">
                <a:solidFill>
                  <a:srgbClr val="1F4E79"/>
                </a:solidFill>
                <a:latin typeface="Consolas"/>
              </a:rPr>
              <a:t>  anatomy/</a:t>
            </a:r>
            <a:r>
              <a:rPr sz="1300" b="0" i="0">
                <a:solidFill>
                  <a:srgbClr val="666666"/>
                </a:solidFill>
                <a:latin typeface="Consolas"/>
              </a:rPr>
              <a:t>  -- brainreg registration + injection site rendering</a:t>
            </a:r>
          </a:p>
          <a:p>
            <a:pPr>
              <a:spcBef>
                <a:spcPts val="200"/>
              </a:spcBef>
            </a:pPr>
            <a:r>
              <a:rPr sz="1400" b="1" i="0">
                <a:solidFill>
                  <a:srgbClr val="1F4E79"/>
                </a:solidFill>
                <a:latin typeface="Consolas"/>
              </a:rPr>
              <a:t>  patching/</a:t>
            </a:r>
            <a:r>
              <a:rPr sz="1300" b="0" i="0">
                <a:solidFill>
                  <a:srgbClr val="666666"/>
                </a:solidFill>
                <a:latin typeface="Consolas"/>
              </a:rPr>
              <a:t>  -- Patch-clamp electrophysiology pipeline (11 modules)</a:t>
            </a:r>
          </a:p>
          <a:p>
            <a:pPr>
              <a:spcBef>
                <a:spcPts val="200"/>
              </a:spcBef>
            </a:pPr>
            <a:r>
              <a:rPr sz="1400" b="1" i="0">
                <a:solidFill>
                  <a:srgbClr val="1F4E79"/>
                </a:solidFill>
                <a:latin typeface="Consolas"/>
              </a:rPr>
              <a:t>  io/</a:t>
            </a:r>
            <a:r>
              <a:rPr sz="1300" b="0" i="0">
                <a:solidFill>
                  <a:srgbClr val="666666"/>
                </a:solidFill>
                <a:latin typeface="Consolas"/>
              </a:rPr>
              <a:t>  -- HDF5 I/O, S3 paths, NWB export, AWS costs</a:t>
            </a:r>
          </a:p>
        </p:txBody>
      </p:sp>
      <p:sp>
        <p:nvSpPr>
          <p:cNvPr id="4" name="TextBox 3"/>
          <p:cNvSpPr txBox="1"/>
          <p:nvPr/>
        </p:nvSpPr>
        <p:spPr>
          <a:xfrm>
            <a:off x="457200" y="5577840"/>
            <a:ext cx="11247120" cy="1097280"/>
          </a:xfrm>
          <a:prstGeom prst="rect">
            <a:avLst/>
          </a:prstGeom>
          <a:noFill/>
        </p:spPr>
        <p:txBody>
          <a:bodyPr wrap="square">
            <a:spAutoFit/>
          </a:bodyPr>
          <a:lstStyle/>
          <a:p>
            <a:pPr>
              <a:spcBef>
                <a:spcPts val="400"/>
              </a:spcBef>
              <a:spcAft>
                <a:spcPts val="200"/>
              </a:spcAft>
            </a:pPr>
            <a:r>
              <a:rPr sz="1300" b="1" i="0">
                <a:solidFill>
                  <a:srgbClr val="1F4E79"/>
                </a:solidFill>
                <a:latin typeface="Calibri"/>
              </a:rPr>
              <a:t>Total:</a:t>
            </a:r>
            <a:r>
              <a:rPr sz="1300" b="0" i="0">
                <a:solidFill>
                  <a:srgbClr val="333333"/>
                </a:solidFill>
                <a:latin typeface="Calibri"/>
              </a:rPr>
              <a:t> ~75 Python modules (excluding __init__.py)</a:t>
            </a:r>
          </a:p>
          <a:p>
            <a:pPr>
              <a:spcBef>
                <a:spcPts val="400"/>
              </a:spcBef>
              <a:spcAft>
                <a:spcPts val="200"/>
              </a:spcAft>
            </a:pPr>
            <a:r>
              <a:rPr sz="1300" b="1" i="0">
                <a:solidFill>
                  <a:srgbClr val="1F4E79"/>
                </a:solidFill>
                <a:latin typeface="Calibri"/>
              </a:rPr>
              <a:t>Separation of concerns:</a:t>
            </a:r>
            <a:r>
              <a:rPr sz="1300" b="0" i="0">
                <a:solidFill>
                  <a:srgbClr val="333333"/>
                </a:solidFill>
                <a:latin typeface="Calibri"/>
              </a:rPr>
              <a:t> processing vs analysis vs frontend vs I/O</a:t>
            </a:r>
          </a:p>
          <a:p>
            <a:pPr>
              <a:spcBef>
                <a:spcPts val="400"/>
              </a:spcBef>
              <a:spcAft>
                <a:spcPts val="200"/>
              </a:spcAft>
            </a:pPr>
            <a:r>
              <a:rPr sz="1300" b="1" i="0">
                <a:solidFill>
                  <a:srgbClr val="1F4E79"/>
                </a:solidFill>
                <a:latin typeface="Calibri"/>
              </a:rPr>
              <a:t>No circular imports:</a:t>
            </a:r>
            <a:r>
              <a:rPr sz="1300" b="0" i="0">
                <a:solidFill>
                  <a:srgbClr val="333333"/>
                </a:solidFill>
                <a:latin typeface="Calibri"/>
              </a:rPr>
              <a:t> strict layering (io -&gt; processing -&gt; analysis)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Patching Pipeline</a:t>
            </a:r>
          </a:p>
        </p:txBody>
      </p:sp>
      <p:sp>
        <p:nvSpPr>
          <p:cNvPr id="3" name="TextBox 2"/>
          <p:cNvSpPr txBox="1"/>
          <p:nvPr/>
        </p:nvSpPr>
        <p:spPr>
          <a:xfrm>
            <a:off x="457200" y="1371600"/>
            <a:ext cx="11247120" cy="5029200"/>
          </a:xfrm>
          <a:prstGeom prst="rect">
            <a:avLst/>
          </a:prstGeom>
          <a:noFill/>
        </p:spPr>
        <p:txBody>
          <a:bodyPr wrap="square">
            <a:spAutoFit/>
          </a:bodyPr>
          <a:lstStyle/>
          <a:p>
            <a:pPr>
              <a:spcBef>
                <a:spcPts val="400"/>
              </a:spcBef>
              <a:spcAft>
                <a:spcPts val="200"/>
              </a:spcAft>
            </a:pPr>
            <a:r>
              <a:rPr sz="1400" b="1" i="0">
                <a:solidFill>
                  <a:srgbClr val="1F4E79"/>
                </a:solidFill>
                <a:latin typeface="Calibri"/>
              </a:rPr>
              <a:t>Purpose:</a:t>
            </a:r>
            <a:r>
              <a:rPr sz="1400" b="0" i="0">
                <a:solidFill>
                  <a:srgbClr val="333333"/>
                </a:solidFill>
                <a:latin typeface="Calibri"/>
              </a:rPr>
              <a:t> Patch-clamp electrophysiology + morphology for same cell populations</a:t>
            </a:r>
          </a:p>
          <a:p>
            <a:pPr>
              <a:spcBef>
                <a:spcPts val="400"/>
              </a:spcBef>
              <a:spcAft>
                <a:spcPts val="200"/>
              </a:spcAft>
            </a:pPr>
            <a:r>
              <a:rPr sz="1400" b="1" i="0">
                <a:solidFill>
                  <a:srgbClr val="1F4E79"/>
                </a:solidFill>
                <a:latin typeface="Calibri"/>
              </a:rPr>
              <a:t>11 modules in src/hm2p/patching/:</a:t>
            </a:r>
          </a:p>
          <a:p>
            <a:pPr lvl="1">
              <a:spcBef>
                <a:spcPts val="400"/>
              </a:spcBef>
              <a:spcAft>
                <a:spcPts val="200"/>
              </a:spcAft>
            </a:pPr>
            <a:r>
              <a:rPr sz="1400" b="0" i="0">
                <a:solidFill>
                  <a:srgbClr val="333333"/>
                </a:solidFill>
                <a:latin typeface="Calibri"/>
              </a:rPr>
              <a:t>config.py -- pipeline configuration (config/patching.yaml)</a:t>
            </a:r>
          </a:p>
          <a:p>
            <a:pPr lvl="1">
              <a:spcBef>
                <a:spcPts val="400"/>
              </a:spcBef>
              <a:spcAft>
                <a:spcPts val="200"/>
              </a:spcAft>
            </a:pPr>
            <a:r>
              <a:rPr sz="1400" b="0" i="0">
                <a:solidFill>
                  <a:srgbClr val="333333"/>
                </a:solidFill>
                <a:latin typeface="Calibri"/>
              </a:rPr>
              <a:t>io.py -- WaveSurfer H5 + SWC file I/O</a:t>
            </a:r>
          </a:p>
          <a:p>
            <a:pPr lvl="1">
              <a:spcBef>
                <a:spcPts val="400"/>
              </a:spcBef>
              <a:spcAft>
                <a:spcPts val="200"/>
              </a:spcAft>
            </a:pPr>
            <a:r>
              <a:rPr sz="1400" b="0" i="0">
                <a:solidFill>
                  <a:srgbClr val="333333"/>
                </a:solidFill>
                <a:latin typeface="Calibri"/>
              </a:rPr>
              <a:t>ephys.py -- electrophysiology signal processing</a:t>
            </a:r>
          </a:p>
          <a:p>
            <a:pPr lvl="1">
              <a:spcBef>
                <a:spcPts val="400"/>
              </a:spcBef>
              <a:spcAft>
                <a:spcPts val="200"/>
              </a:spcAft>
            </a:pPr>
            <a:r>
              <a:rPr sz="1400" b="0" i="0">
                <a:solidFill>
                  <a:srgbClr val="333333"/>
                </a:solidFill>
                <a:latin typeface="Calibri"/>
              </a:rPr>
              <a:t>protocols.py -- stimulus protocol parsing and response extraction</a:t>
            </a:r>
          </a:p>
          <a:p>
            <a:pPr lvl="1">
              <a:spcBef>
                <a:spcPts val="400"/>
              </a:spcBef>
              <a:spcAft>
                <a:spcPts val="200"/>
              </a:spcAft>
            </a:pPr>
            <a:r>
              <a:rPr sz="1400" b="0" i="0">
                <a:solidFill>
                  <a:srgbClr val="333333"/>
                </a:solidFill>
                <a:latin typeface="Calibri"/>
              </a:rPr>
              <a:t>spike_features.py -- AP waveform feature extraction</a:t>
            </a:r>
          </a:p>
          <a:p>
            <a:pPr lvl="1">
              <a:spcBef>
                <a:spcPts val="400"/>
              </a:spcBef>
              <a:spcAft>
                <a:spcPts val="200"/>
              </a:spcAft>
            </a:pPr>
            <a:r>
              <a:rPr sz="1400" b="0" i="0">
                <a:solidFill>
                  <a:srgbClr val="333333"/>
                </a:solidFill>
                <a:latin typeface="Calibri"/>
              </a:rPr>
              <a:t>morphology.py -- SWC morphology loading and analysis</a:t>
            </a:r>
          </a:p>
          <a:p>
            <a:pPr lvl="1">
              <a:spcBef>
                <a:spcPts val="400"/>
              </a:spcBef>
              <a:spcAft>
                <a:spcPts val="200"/>
              </a:spcAft>
            </a:pPr>
            <a:r>
              <a:rPr sz="1400" b="0" i="0">
                <a:solidFill>
                  <a:srgbClr val="333333"/>
                </a:solidFill>
                <a:latin typeface="Calibri"/>
              </a:rPr>
              <a:t>metrics.py -- intrinsic excitability and passive membrane properties</a:t>
            </a:r>
          </a:p>
          <a:p>
            <a:pPr lvl="1">
              <a:spcBef>
                <a:spcPts val="400"/>
              </a:spcBef>
              <a:spcAft>
                <a:spcPts val="200"/>
              </a:spcAft>
            </a:pPr>
            <a:r>
              <a:rPr sz="1400" b="0" i="0">
                <a:solidFill>
                  <a:srgbClr val="333333"/>
                </a:solidFill>
                <a:latin typeface="Calibri"/>
              </a:rPr>
              <a:t>statistics.py -- statistical comparisons (non-parametric)</a:t>
            </a:r>
          </a:p>
          <a:p>
            <a:pPr lvl="1">
              <a:spcBef>
                <a:spcPts val="400"/>
              </a:spcBef>
              <a:spcAft>
                <a:spcPts val="200"/>
              </a:spcAft>
            </a:pPr>
            <a:r>
              <a:rPr sz="1400" b="0" i="0">
                <a:solidFill>
                  <a:srgbClr val="333333"/>
                </a:solidFill>
                <a:latin typeface="Calibri"/>
              </a:rPr>
              <a:t>pca.py -- PCA on electrophysiological features</a:t>
            </a:r>
          </a:p>
          <a:p>
            <a:pPr>
              <a:spcBef>
                <a:spcPts val="400"/>
              </a:spcBef>
              <a:spcAft>
                <a:spcPts val="200"/>
              </a:spcAft>
            </a:pPr>
            <a:r>
              <a:rPr sz="1400" b="1" i="0">
                <a:solidFill>
                  <a:srgbClr val="1F4E79"/>
                </a:solidFill>
                <a:latin typeface="Calibri"/>
              </a:rPr>
              <a:t>Frontend:</a:t>
            </a:r>
            <a:r>
              <a:rPr sz="1400" b="0" i="0">
                <a:solidFill>
                  <a:srgbClr val="333333"/>
                </a:solidFill>
                <a:latin typeface="Calibri"/>
              </a:rPr>
              <a:t> patching_page.py, patching_traces_page.py, patching_morph_page.py</a:t>
            </a:r>
          </a:p>
          <a:p>
            <a:pPr>
              <a:spcBef>
                <a:spcPts val="400"/>
              </a:spcBef>
              <a:spcAft>
                <a:spcPts val="200"/>
              </a:spcAft>
            </a:pPr>
            <a:r>
              <a:rPr sz="1400" b="1" i="0">
                <a:solidFill>
                  <a:srgbClr val="1F4E79"/>
                </a:solidFill>
                <a:latin typeface="Calibri"/>
              </a:rPr>
              <a:t>Data:</a:t>
            </a:r>
            <a:r>
              <a:rPr sz="1400" b="0" i="0">
                <a:solidFill>
                  <a:srgbClr val="333333"/>
                </a:solidFill>
                <a:latin typeface="Calibri"/>
              </a:rPr>
              <a:t> read-only bind mount at /data/patching/</a:t>
            </a:r>
          </a:p>
          <a:p>
            <a:pPr>
              <a:spcBef>
                <a:spcPts val="400"/>
              </a:spcBef>
              <a:spcAft>
                <a:spcPts val="200"/>
              </a:spcAft>
            </a:pPr>
            <a:r>
              <a:rPr sz="1400" b="1" i="0">
                <a:solidFill>
                  <a:srgbClr val="1F4E79"/>
                </a:solidFill>
                <a:latin typeface="Calibri"/>
              </a:rPr>
              <a:t>Status:</a:t>
            </a:r>
            <a:r>
              <a:rPr sz="1400" b="0" i="0">
                <a:solidFill>
                  <a:srgbClr val="333333"/>
                </a:solidFill>
                <a:latin typeface="Calibri"/>
              </a:rPr>
              <a:t> processing modules complete; frontend pages functional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Current Status</a:t>
            </a:r>
          </a:p>
        </p:txBody>
      </p:sp>
      <p:sp>
        <p:nvSpPr>
          <p:cNvPr id="3" name="TextBox 2"/>
          <p:cNvSpPr txBox="1"/>
          <p:nvPr/>
        </p:nvSpPr>
        <p:spPr>
          <a:xfrm>
            <a:off x="457200" y="1051560"/>
            <a:ext cx="2743200" cy="274320"/>
          </a:xfrm>
          <a:prstGeom prst="rect">
            <a:avLst/>
          </a:prstGeom>
          <a:noFill/>
        </p:spPr>
        <p:txBody>
          <a:bodyPr wrap="none">
            <a:spAutoFit/>
          </a:bodyPr>
          <a:lstStyle/>
          <a:p>
            <a:r>
              <a:rPr sz="1600" b="1" i="0">
                <a:solidFill>
                  <a:srgbClr val="2D8B57"/>
                </a:solidFill>
                <a:latin typeface="Calibri"/>
              </a:rPr>
              <a:t>Completed</a:t>
            </a:r>
          </a:p>
        </p:txBody>
      </p:sp>
      <p:graphicFrame>
        <p:nvGraphicFramePr>
          <p:cNvPr id="4" name="Table 3"/>
          <p:cNvGraphicFramePr>
            <a:graphicFrameLocks noGrp="1"/>
          </p:cNvGraphicFramePr>
          <p:nvPr/>
        </p:nvGraphicFramePr>
        <p:xfrm>
          <a:off x="457200" y="1325880"/>
          <a:ext cx="5486400" cy="3017520"/>
        </p:xfrm>
        <a:graphic>
          <a:graphicData uri="http://schemas.openxmlformats.org/drawingml/2006/table">
            <a:tbl>
              <a:tblPr firstRow="1" bandRow="1">
                <a:tableStyleId>{5C22544A-7EE6-4342-B048-85BDC9FD1C3A}</a:tableStyleId>
              </a:tblPr>
              <a:tblGrid>
                <a:gridCol w="3657600"/>
                <a:gridCol w="1828800"/>
              </a:tblGrid>
              <a:tr h="274320">
                <a:tc>
                  <a:txBody>
                    <a:bodyPr/>
                    <a:lstStyle/>
                    <a:p>
                      <a:r>
                        <a:rPr sz="1200" b="1" i="0">
                          <a:solidFill>
                            <a:srgbClr val="FFFFFF"/>
                          </a:solidFill>
                          <a:latin typeface="Calibri"/>
                        </a:rPr>
                        <a:t>Component</a:t>
                      </a:r>
                    </a:p>
                  </a:txBody>
                  <a:tcPr anchor="ctr">
                    <a:solidFill>
                      <a:srgbClr val="1F4E79"/>
                    </a:solidFill>
                  </a:tcPr>
                </a:tc>
                <a:tc>
                  <a:txBody>
                    <a:bodyPr/>
                    <a:lstStyle/>
                    <a:p>
                      <a:r>
                        <a:rPr sz="1200" b="1" i="0">
                          <a:solidFill>
                            <a:srgbClr val="FFFFFF"/>
                          </a:solidFill>
                          <a:latin typeface="Calibri"/>
                        </a:rPr>
                        <a:t>Status</a:t>
                      </a:r>
                    </a:p>
                  </a:txBody>
                  <a:tcPr anchor="ctr">
                    <a:solidFill>
                      <a:srgbClr val="1F4E79"/>
                    </a:solidFill>
                  </a:tcPr>
                </a:tc>
              </a:tr>
              <a:tr h="274320">
                <a:tc>
                  <a:txBody>
                    <a:bodyPr/>
                    <a:lstStyle/>
                    <a:p>
                      <a:r>
                        <a:rPr sz="1100" b="0" i="0">
                          <a:solidFill>
                            <a:srgbClr val="333333"/>
                          </a:solidFill>
                          <a:latin typeface="Calibri"/>
                        </a:rPr>
                        <a:t>Stage 0 -- DAQ parsing</a:t>
                      </a:r>
                    </a:p>
                  </a:txBody>
                  <a:tcPr anchor="ctr">
                    <a:solidFill>
                      <a:srgbClr val="FFFFFF"/>
                    </a:solidFill>
                  </a:tcPr>
                </a:tc>
                <a:tc>
                  <a:txBody>
                    <a:bodyPr/>
                    <a:lstStyle/>
                    <a:p>
                      <a:r>
                        <a:rPr sz="1100" b="0" i="0">
                          <a:solidFill>
                            <a:srgbClr val="333333"/>
                          </a:solidFill>
                          <a:latin typeface="Calibri"/>
                        </a:rPr>
                        <a:t>26/26</a:t>
                      </a:r>
                    </a:p>
                  </a:txBody>
                  <a:tcPr anchor="ctr">
                    <a:solidFill>
                      <a:srgbClr val="FFFFFF"/>
                    </a:solidFill>
                  </a:tcPr>
                </a:tc>
              </a:tr>
              <a:tr h="274320">
                <a:tc>
                  <a:txBody>
                    <a:bodyPr/>
                    <a:lstStyle/>
                    <a:p>
                      <a:r>
                        <a:rPr sz="1100" b="0" i="0">
                          <a:solidFill>
                            <a:srgbClr val="333333"/>
                          </a:solidFill>
                          <a:latin typeface="Calibri"/>
                        </a:rPr>
                        <a:t>Stage 1 -- Suite2p extraction</a:t>
                      </a:r>
                    </a:p>
                  </a:txBody>
                  <a:tcPr anchor="ctr">
                    <a:solidFill>
                      <a:srgbClr val="F2F2F2"/>
                    </a:solidFill>
                  </a:tcPr>
                </a:tc>
                <a:tc>
                  <a:txBody>
                    <a:bodyPr/>
                    <a:lstStyle/>
                    <a:p>
                      <a:r>
                        <a:rPr sz="1100" b="0" i="0">
                          <a:solidFill>
                            <a:srgbClr val="333333"/>
                          </a:solidFill>
                          <a:latin typeface="Calibri"/>
                        </a:rPr>
                        <a:t>26/26</a:t>
                      </a:r>
                    </a:p>
                  </a:txBody>
                  <a:tcPr anchor="ctr">
                    <a:solidFill>
                      <a:srgbClr val="F2F2F2"/>
                    </a:solidFill>
                  </a:tcPr>
                </a:tc>
              </a:tr>
              <a:tr h="274320">
                <a:tc>
                  <a:txBody>
                    <a:bodyPr/>
                    <a:lstStyle/>
                    <a:p>
                      <a:r>
                        <a:rPr sz="1100" b="0" i="0">
                          <a:solidFill>
                            <a:srgbClr val="333333"/>
                          </a:solidFill>
                          <a:latin typeface="Calibri"/>
                        </a:rPr>
                        <a:t>Stage 2 -- DLC pose estimation</a:t>
                      </a:r>
                    </a:p>
                  </a:txBody>
                  <a:tcPr anchor="ctr">
                    <a:solidFill>
                      <a:srgbClr val="FFFFFF"/>
                    </a:solidFill>
                  </a:tcPr>
                </a:tc>
                <a:tc>
                  <a:txBody>
                    <a:bodyPr/>
                    <a:lstStyle/>
                    <a:p>
                      <a:r>
                        <a:rPr sz="1100" b="0" i="0">
                          <a:solidFill>
                            <a:srgbClr val="333333"/>
                          </a:solidFill>
                          <a:latin typeface="Calibri"/>
                        </a:rPr>
                        <a:t>26/26</a:t>
                      </a:r>
                    </a:p>
                  </a:txBody>
                  <a:tcPr anchor="ctr">
                    <a:solidFill>
                      <a:srgbClr val="FFFFFF"/>
                    </a:solidFill>
                  </a:tcPr>
                </a:tc>
              </a:tr>
              <a:tr h="274320">
                <a:tc>
                  <a:txBody>
                    <a:bodyPr/>
                    <a:lstStyle/>
                    <a:p>
                      <a:r>
                        <a:rPr sz="1100" b="0" i="0">
                          <a:solidFill>
                            <a:srgbClr val="333333"/>
                          </a:solidFill>
                          <a:latin typeface="Calibri"/>
                        </a:rPr>
                        <a:t>Stage 3 -- Kinematics</a:t>
                      </a:r>
                    </a:p>
                  </a:txBody>
                  <a:tcPr anchor="ctr">
                    <a:solidFill>
                      <a:srgbClr val="F2F2F2"/>
                    </a:solidFill>
                  </a:tcPr>
                </a:tc>
                <a:tc>
                  <a:txBody>
                    <a:bodyPr/>
                    <a:lstStyle/>
                    <a:p>
                      <a:r>
                        <a:rPr sz="1100" b="0" i="0">
                          <a:solidFill>
                            <a:srgbClr val="333333"/>
                          </a:solidFill>
                          <a:latin typeface="Calibri"/>
                        </a:rPr>
                        <a:t>Code complete</a:t>
                      </a:r>
                    </a:p>
                  </a:txBody>
                  <a:tcPr anchor="ctr">
                    <a:solidFill>
                      <a:srgbClr val="F2F2F2"/>
                    </a:solidFill>
                  </a:tcPr>
                </a:tc>
              </a:tr>
              <a:tr h="274320">
                <a:tc>
                  <a:txBody>
                    <a:bodyPr/>
                    <a:lstStyle/>
                    <a:p>
                      <a:r>
                        <a:rPr sz="1100" b="0" i="0">
                          <a:solidFill>
                            <a:srgbClr val="333333"/>
                          </a:solidFill>
                          <a:latin typeface="Calibri"/>
                        </a:rPr>
                        <a:t>Stage 4 -- Calcium processing</a:t>
                      </a:r>
                    </a:p>
                  </a:txBody>
                  <a:tcPr anchor="ctr">
                    <a:solidFill>
                      <a:srgbClr val="FFFFFF"/>
                    </a:solidFill>
                  </a:tcPr>
                </a:tc>
                <a:tc>
                  <a:txBody>
                    <a:bodyPr/>
                    <a:lstStyle/>
                    <a:p>
                      <a:r>
                        <a:rPr sz="1100" b="0" i="0">
                          <a:solidFill>
                            <a:srgbClr val="333333"/>
                          </a:solidFill>
                          <a:latin typeface="Calibri"/>
                        </a:rPr>
                        <a:t>26/26</a:t>
                      </a:r>
                    </a:p>
                  </a:txBody>
                  <a:tcPr anchor="ctr">
                    <a:solidFill>
                      <a:srgbClr val="FFFFFF"/>
                    </a:solidFill>
                  </a:tcPr>
                </a:tc>
              </a:tr>
              <a:tr h="274320">
                <a:tc>
                  <a:txBody>
                    <a:bodyPr/>
                    <a:lstStyle/>
                    <a:p>
                      <a:r>
                        <a:rPr sz="1100" b="0" i="0">
                          <a:solidFill>
                            <a:srgbClr val="333333"/>
                          </a:solidFill>
                          <a:latin typeface="Calibri"/>
                        </a:rPr>
                        <a:t>Stage 5 -- Sync</a:t>
                      </a:r>
                    </a:p>
                  </a:txBody>
                  <a:tcPr anchor="ctr">
                    <a:solidFill>
                      <a:srgbClr val="F2F2F2"/>
                    </a:solidFill>
                  </a:tcPr>
                </a:tc>
                <a:tc>
                  <a:txBody>
                    <a:bodyPr/>
                    <a:lstStyle/>
                    <a:p>
                      <a:r>
                        <a:rPr sz="1100" b="0" i="0">
                          <a:solidFill>
                            <a:srgbClr val="333333"/>
                          </a:solidFill>
                          <a:latin typeface="Calibri"/>
                        </a:rPr>
                        <a:t>21/21</a:t>
                      </a:r>
                    </a:p>
                  </a:txBody>
                  <a:tcPr anchor="ctr">
                    <a:solidFill>
                      <a:srgbClr val="F2F2F2"/>
                    </a:solidFill>
                  </a:tcPr>
                </a:tc>
              </a:tr>
              <a:tr h="274320">
                <a:tc>
                  <a:txBody>
                    <a:bodyPr/>
                    <a:lstStyle/>
                    <a:p>
                      <a:r>
                        <a:rPr sz="1100" b="0" i="0">
                          <a:solidFill>
                            <a:srgbClr val="333333"/>
                          </a:solidFill>
                          <a:latin typeface="Calibri"/>
                        </a:rPr>
                        <a:t>Stage 6 -- Analysis (19 modules)</a:t>
                      </a:r>
                    </a:p>
                  </a:txBody>
                  <a:tcPr anchor="ctr">
                    <a:solidFill>
                      <a:srgbClr val="FFFFFF"/>
                    </a:solidFill>
                  </a:tcPr>
                </a:tc>
                <a:tc>
                  <a:txBody>
                    <a:bodyPr/>
                    <a:lstStyle/>
                    <a:p>
                      <a:r>
                        <a:rPr sz="1100" b="0" i="0">
                          <a:solidFill>
                            <a:srgbClr val="333333"/>
                          </a:solidFill>
                          <a:latin typeface="Calibri"/>
                        </a:rPr>
                        <a:t>Code complete</a:t>
                      </a:r>
                    </a:p>
                  </a:txBody>
                  <a:tcPr anchor="ctr">
                    <a:solidFill>
                      <a:srgbClr val="FFFFFF"/>
                    </a:solidFill>
                  </a:tcPr>
                </a:tc>
              </a:tr>
              <a:tr h="274320">
                <a:tc>
                  <a:txBody>
                    <a:bodyPr/>
                    <a:lstStyle/>
                    <a:p>
                      <a:r>
                        <a:rPr sz="1100" b="0" i="0">
                          <a:solidFill>
                            <a:srgbClr val="333333"/>
                          </a:solidFill>
                          <a:latin typeface="Calibri"/>
                        </a:rPr>
                        <a:t>Frontend (67 pages)</a:t>
                      </a:r>
                    </a:p>
                  </a:txBody>
                  <a:tcPr anchor="ctr">
                    <a:solidFill>
                      <a:srgbClr val="F2F2F2"/>
                    </a:solidFill>
                  </a:tcPr>
                </a:tc>
                <a:tc>
                  <a:txBody>
                    <a:bodyPr/>
                    <a:lstStyle/>
                    <a:p>
                      <a:r>
                        <a:rPr sz="1100" b="0" i="0">
                          <a:solidFill>
                            <a:srgbClr val="333333"/>
                          </a:solidFill>
                          <a:latin typeface="Calibri"/>
                        </a:rPr>
                        <a:t>Operational</a:t>
                      </a:r>
                    </a:p>
                  </a:txBody>
                  <a:tcPr anchor="ctr">
                    <a:solidFill>
                      <a:srgbClr val="F2F2F2"/>
                    </a:solidFill>
                  </a:tcPr>
                </a:tc>
              </a:tr>
              <a:tr h="274320">
                <a:tc>
                  <a:txBody>
                    <a:bodyPr/>
                    <a:lstStyle/>
                    <a:p>
                      <a:r>
                        <a:rPr sz="1100" b="0" i="0">
                          <a:solidFill>
                            <a:srgbClr val="333333"/>
                          </a:solidFill>
                          <a:latin typeface="Calibri"/>
                        </a:rPr>
                        <a:t>Patching pipeline (11 modules)</a:t>
                      </a:r>
                    </a:p>
                  </a:txBody>
                  <a:tcPr anchor="ctr">
                    <a:solidFill>
                      <a:srgbClr val="FFFFFF"/>
                    </a:solidFill>
                  </a:tcPr>
                </a:tc>
                <a:tc>
                  <a:txBody>
                    <a:bodyPr/>
                    <a:lstStyle/>
                    <a:p>
                      <a:r>
                        <a:rPr sz="1100" b="0" i="0">
                          <a:solidFill>
                            <a:srgbClr val="333333"/>
                          </a:solidFill>
                          <a:latin typeface="Calibri"/>
                        </a:rPr>
                        <a:t>Complete</a:t>
                      </a:r>
                    </a:p>
                  </a:txBody>
                  <a:tcPr anchor="ctr">
                    <a:solidFill>
                      <a:srgbClr val="FFFFFF"/>
                    </a:solidFill>
                  </a:tcPr>
                </a:tc>
              </a:tr>
              <a:tr h="274320">
                <a:tc>
                  <a:txBody>
                    <a:bodyPr/>
                    <a:lstStyle/>
                    <a:p>
                      <a:r>
                        <a:rPr sz="1100" b="0" i="0">
                          <a:solidFill>
                            <a:srgbClr val="333333"/>
                          </a:solidFill>
                          <a:latin typeface="Calibri"/>
                        </a:rPr>
                        <a:t>DLC champion model system</a:t>
                      </a:r>
                    </a:p>
                  </a:txBody>
                  <a:tcPr anchor="ctr">
                    <a:solidFill>
                      <a:srgbClr val="F2F2F2"/>
                    </a:solidFill>
                  </a:tcPr>
                </a:tc>
                <a:tc>
                  <a:txBody>
                    <a:bodyPr/>
                    <a:lstStyle/>
                    <a:p>
                      <a:r>
                        <a:rPr sz="1100" b="0" i="0">
                          <a:solidFill>
                            <a:srgbClr val="333333"/>
                          </a:solidFill>
                          <a:latin typeface="Calibri"/>
                        </a:rPr>
                        <a:t>Phases 1-2</a:t>
                      </a:r>
                    </a:p>
                  </a:txBody>
                  <a:tcPr anchor="ctr">
                    <a:solidFill>
                      <a:srgbClr val="F2F2F2"/>
                    </a:solidFill>
                  </a:tcPr>
                </a:tc>
              </a:tr>
            </a:tbl>
          </a:graphicData>
        </a:graphic>
      </p:graphicFrame>
      <p:sp>
        <p:nvSpPr>
          <p:cNvPr id="5" name="TextBox 4"/>
          <p:cNvSpPr txBox="1"/>
          <p:nvPr/>
        </p:nvSpPr>
        <p:spPr>
          <a:xfrm>
            <a:off x="6217920" y="1051560"/>
            <a:ext cx="2743200" cy="274320"/>
          </a:xfrm>
          <a:prstGeom prst="rect">
            <a:avLst/>
          </a:prstGeom>
          <a:noFill/>
        </p:spPr>
        <p:txBody>
          <a:bodyPr wrap="none">
            <a:spAutoFit/>
          </a:bodyPr>
          <a:lstStyle/>
          <a:p>
            <a:r>
              <a:rPr sz="1600" b="1" i="0">
                <a:solidFill>
                  <a:srgbClr val="E07C24"/>
                </a:solidFill>
                <a:latin typeface="Calibri"/>
              </a:rPr>
              <a:t>Pending</a:t>
            </a:r>
          </a:p>
        </p:txBody>
      </p:sp>
      <p:graphicFrame>
        <p:nvGraphicFramePr>
          <p:cNvPr id="6" name="Table 5"/>
          <p:cNvGraphicFramePr>
            <a:graphicFrameLocks noGrp="1"/>
          </p:cNvGraphicFramePr>
          <p:nvPr/>
        </p:nvGraphicFramePr>
        <p:xfrm>
          <a:off x="6217920" y="1325880"/>
          <a:ext cx="5486400" cy="1920240"/>
        </p:xfrm>
        <a:graphic>
          <a:graphicData uri="http://schemas.openxmlformats.org/drawingml/2006/table">
            <a:tbl>
              <a:tblPr firstRow="1" bandRow="1">
                <a:tableStyleId>{5C22544A-7EE6-4342-B048-85BDC9FD1C3A}</a:tableStyleId>
              </a:tblPr>
              <a:tblGrid>
                <a:gridCol w="3200400"/>
                <a:gridCol w="2286000"/>
              </a:tblGrid>
              <a:tr h="274320">
                <a:tc>
                  <a:txBody>
                    <a:bodyPr/>
                    <a:lstStyle/>
                    <a:p>
                      <a:r>
                        <a:rPr sz="1200" b="1" i="0">
                          <a:solidFill>
                            <a:srgbClr val="FFFFFF"/>
                          </a:solidFill>
                          <a:latin typeface="Calibri"/>
                        </a:rPr>
                        <a:t>Component</a:t>
                      </a:r>
                    </a:p>
                  </a:txBody>
                  <a:tcPr anchor="ctr">
                    <a:solidFill>
                      <a:srgbClr val="1F4E79"/>
                    </a:solidFill>
                  </a:tcPr>
                </a:tc>
                <a:tc>
                  <a:txBody>
                    <a:bodyPr/>
                    <a:lstStyle/>
                    <a:p>
                      <a:r>
                        <a:rPr sz="1200" b="1" i="0">
                          <a:solidFill>
                            <a:srgbClr val="FFFFFF"/>
                          </a:solidFill>
                          <a:latin typeface="Calibri"/>
                        </a:rPr>
                        <a:t>Blocker</a:t>
                      </a:r>
                    </a:p>
                  </a:txBody>
                  <a:tcPr anchor="ctr">
                    <a:solidFill>
                      <a:srgbClr val="1F4E79"/>
                    </a:solidFill>
                  </a:tcPr>
                </a:tc>
              </a:tr>
              <a:tr h="274320">
                <a:tc>
                  <a:txBody>
                    <a:bodyPr/>
                    <a:lstStyle/>
                    <a:p>
                      <a:r>
                        <a:rPr sz="1100" b="0" i="0">
                          <a:solidFill>
                            <a:srgbClr val="333333"/>
                          </a:solidFill>
                          <a:latin typeface="Calibri"/>
                        </a:rPr>
                        <a:t>CASCADE spike inference</a:t>
                      </a:r>
                    </a:p>
                  </a:txBody>
                  <a:tcPr anchor="ctr">
                    <a:solidFill>
                      <a:srgbClr val="FFFFFF"/>
                    </a:solidFill>
                  </a:tcPr>
                </a:tc>
                <a:tc>
                  <a:txBody>
                    <a:bodyPr/>
                    <a:lstStyle/>
                    <a:p>
                      <a:r>
                        <a:rPr sz="1100" b="0" i="0">
                          <a:solidFill>
                            <a:srgbClr val="333333"/>
                          </a:solidFill>
                          <a:latin typeface="Calibri"/>
                        </a:rPr>
                        <a:t>TF 2.3 / Python 3.8</a:t>
                      </a:r>
                    </a:p>
                  </a:txBody>
                  <a:tcPr anchor="ctr">
                    <a:solidFill>
                      <a:srgbClr val="FFFFFF"/>
                    </a:solidFill>
                  </a:tcPr>
                </a:tc>
              </a:tr>
              <a:tr h="274320">
                <a:tc>
                  <a:txBody>
                    <a:bodyPr/>
                    <a:lstStyle/>
                    <a:p>
                      <a:r>
                        <a:rPr sz="1100" b="0" i="0">
                          <a:solidFill>
                            <a:srgbClr val="333333"/>
                          </a:solidFill>
                          <a:latin typeface="Calibri"/>
                        </a:rPr>
                        <a:t>FISSA neuropil subtraction</a:t>
                      </a:r>
                    </a:p>
                  </a:txBody>
                  <a:tcPr anchor="ctr">
                    <a:solidFill>
                      <a:srgbClr val="F2F2F2"/>
                    </a:solidFill>
                  </a:tcPr>
                </a:tc>
                <a:tc>
                  <a:txBody>
                    <a:bodyPr/>
                    <a:lstStyle/>
                    <a:p>
                      <a:r>
                        <a:rPr sz="1100" b="0" i="0">
                          <a:solidFill>
                            <a:srgbClr val="333333"/>
                          </a:solidFill>
                          <a:latin typeface="Calibri"/>
                        </a:rPr>
                        <a:t>scikit-learn &lt; 1.2</a:t>
                      </a:r>
                    </a:p>
                  </a:txBody>
                  <a:tcPr anchor="ctr">
                    <a:solidFill>
                      <a:srgbClr val="F2F2F2"/>
                    </a:solidFill>
                  </a:tcPr>
                </a:tc>
              </a:tr>
              <a:tr h="274320">
                <a:tc>
                  <a:txBody>
                    <a:bodyPr/>
                    <a:lstStyle/>
                    <a:p>
                      <a:r>
                        <a:rPr sz="1100" b="0" i="0">
                          <a:solidFill>
                            <a:srgbClr val="333333"/>
                          </a:solidFill>
                          <a:latin typeface="Calibri"/>
                        </a:rPr>
                        <a:t>NWB export (neuroconv)</a:t>
                      </a:r>
                    </a:p>
                  </a:txBody>
                  <a:tcPr anchor="ctr">
                    <a:solidFill>
                      <a:srgbClr val="FFFFFF"/>
                    </a:solidFill>
                  </a:tcPr>
                </a:tc>
                <a:tc>
                  <a:txBody>
                    <a:bodyPr/>
                    <a:lstStyle/>
                    <a:p>
                      <a:r>
                        <a:rPr sz="1100" b="0" i="0">
                          <a:solidFill>
                            <a:srgbClr val="333333"/>
                          </a:solidFill>
                          <a:latin typeface="Calibri"/>
                        </a:rPr>
                        <a:t>Stub only</a:t>
                      </a:r>
                    </a:p>
                  </a:txBody>
                  <a:tcPr anchor="ctr">
                    <a:solidFill>
                      <a:srgbClr val="FFFFFF"/>
                    </a:solidFill>
                  </a:tcPr>
                </a:tc>
              </a:tr>
              <a:tr h="274320">
                <a:tc>
                  <a:txBody>
                    <a:bodyPr/>
                    <a:lstStyle/>
                    <a:p>
                      <a:r>
                        <a:rPr sz="1100" b="0" i="0">
                          <a:solidFill>
                            <a:srgbClr val="333333"/>
                          </a:solidFill>
                          <a:latin typeface="Calibri"/>
                        </a:rPr>
                        <a:t>DLC champion Phase 3</a:t>
                      </a:r>
                    </a:p>
                  </a:txBody>
                  <a:tcPr anchor="ctr">
                    <a:solidFill>
                      <a:srgbClr val="F2F2F2"/>
                    </a:solidFill>
                  </a:tcPr>
                </a:tc>
                <a:tc>
                  <a:txBody>
                    <a:bodyPr/>
                    <a:lstStyle/>
                    <a:p>
                      <a:r>
                        <a:rPr sz="1100" b="0" i="0">
                          <a:solidFill>
                            <a:srgbClr val="333333"/>
                          </a:solidFill>
                          <a:latin typeface="Calibri"/>
                        </a:rPr>
                        <a:t>Partial</a:t>
                      </a:r>
                    </a:p>
                  </a:txBody>
                  <a:tcPr anchor="ctr">
                    <a:solidFill>
                      <a:srgbClr val="F2F2F2"/>
                    </a:solidFill>
                  </a:tcPr>
                </a:tc>
              </a:tr>
              <a:tr h="274320">
                <a:tc>
                  <a:txBody>
                    <a:bodyPr/>
                    <a:lstStyle/>
                    <a:p>
                      <a:r>
                        <a:rPr sz="1100" b="0" i="0">
                          <a:solidFill>
                            <a:srgbClr val="333333"/>
                          </a:solidFill>
                          <a:latin typeface="Calibri"/>
                        </a:rPr>
                        <a:t>MoSeq syllables</a:t>
                      </a:r>
                    </a:p>
                  </a:txBody>
                  <a:tcPr anchor="ctr">
                    <a:solidFill>
                      <a:srgbClr val="FFFFFF"/>
                    </a:solidFill>
                  </a:tcPr>
                </a:tc>
                <a:tc>
                  <a:txBody>
                    <a:bodyPr/>
                    <a:lstStyle/>
                    <a:p>
                      <a:r>
                        <a:rPr sz="1100" b="0" i="0">
                          <a:solidFill>
                            <a:srgbClr val="333333"/>
                          </a:solidFill>
                          <a:latin typeface="Calibri"/>
                        </a:rPr>
                        <a:t>Awaiting DLC re-run</a:t>
                      </a:r>
                    </a:p>
                  </a:txBody>
                  <a:tcPr anchor="ctr">
                    <a:solidFill>
                      <a:srgbClr val="FFFFFF"/>
                    </a:solidFill>
                  </a:tcPr>
                </a:tc>
              </a:tr>
              <a:tr h="274320">
                <a:tc>
                  <a:txBody>
                    <a:bodyPr/>
                    <a:lstStyle/>
                    <a:p>
                      <a:r>
                        <a:rPr sz="1100" b="0" i="0">
                          <a:solidFill>
                            <a:srgbClr val="333333"/>
                          </a:solidFill>
                          <a:latin typeface="Calibri"/>
                        </a:rPr>
                        <a:t>Snakemake integration</a:t>
                      </a:r>
                    </a:p>
                  </a:txBody>
                  <a:tcPr anchor="ctr">
                    <a:solidFill>
                      <a:srgbClr val="F2F2F2"/>
                    </a:solidFill>
                  </a:tcPr>
                </a:tc>
                <a:tc>
                  <a:txBody>
                    <a:bodyPr/>
                    <a:lstStyle/>
                    <a:p>
                      <a:r>
                        <a:rPr sz="1100" b="0" i="0">
                          <a:solidFill>
                            <a:srgbClr val="333333"/>
                          </a:solidFill>
                          <a:latin typeface="Calibri"/>
                        </a:rPr>
                        <a:t>Scripts used instead</a:t>
                      </a:r>
                    </a:p>
                  </a:txBody>
                  <a:tcPr anchor="ctr">
                    <a:solidFill>
                      <a:srgbClr val="F2F2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Known Issues &amp; Documentation Gaps</a:t>
            </a:r>
          </a:p>
        </p:txBody>
      </p:sp>
      <p:sp>
        <p:nvSpPr>
          <p:cNvPr id="3" name="TextBox 2"/>
          <p:cNvSpPr txBox="1"/>
          <p:nvPr/>
        </p:nvSpPr>
        <p:spPr>
          <a:xfrm>
            <a:off x="457200" y="1051560"/>
            <a:ext cx="5029200" cy="274320"/>
          </a:xfrm>
          <a:prstGeom prst="rect">
            <a:avLst/>
          </a:prstGeom>
          <a:noFill/>
        </p:spPr>
        <p:txBody>
          <a:bodyPr wrap="none">
            <a:spAutoFit/>
          </a:bodyPr>
          <a:lstStyle/>
          <a:p>
            <a:r>
              <a:rPr sz="1400" b="1" i="0">
                <a:solidFill>
                  <a:srgbClr val="E07C24"/>
                </a:solidFill>
                <a:latin typeface="Calibri"/>
              </a:rPr>
              <a:t>Documentation Inconsistencies</a:t>
            </a:r>
          </a:p>
        </p:txBody>
      </p:sp>
      <p:sp>
        <p:nvSpPr>
          <p:cNvPr id="4" name="TextBox 3"/>
          <p:cNvSpPr txBox="1"/>
          <p:nvPr/>
        </p:nvSpPr>
        <p:spPr>
          <a:xfrm>
            <a:off x="457200" y="1371600"/>
            <a:ext cx="5303520" cy="3200400"/>
          </a:xfrm>
          <a:prstGeom prst="rect">
            <a:avLst/>
          </a:prstGeom>
          <a:noFill/>
        </p:spPr>
        <p:txBody>
          <a:bodyPr wrap="square">
            <a:spAutoFit/>
          </a:bodyPr>
          <a:lstStyle/>
          <a:p>
            <a:pPr>
              <a:spcBef>
                <a:spcPts val="400"/>
              </a:spcBef>
            </a:pPr>
            <a:r>
              <a:rPr sz="1300" b="0" i="0">
                <a:solidFill>
                  <a:srgbClr val="333333"/>
                </a:solidFill>
                <a:latin typeface="Calibri"/>
              </a:rPr>
              <a:t>Count mismatches: README (53 pages), ARCHITECTURE (60), actual (67)</a:t>
            </a:r>
          </a:p>
          <a:p>
            <a:pPr>
              <a:spcBef>
                <a:spcPts val="400"/>
              </a:spcBef>
            </a:pPr>
            <a:r>
              <a:rPr sz="1300" b="0" i="0">
                <a:solidFill>
                  <a:srgbClr val="333333"/>
                </a:solidFill>
                <a:latin typeface="Calibri"/>
              </a:rPr>
              <a:t>Body part list: PLAN.md lists 5, correct count is 8</a:t>
            </a:r>
          </a:p>
          <a:p>
            <a:pPr>
              <a:spcBef>
                <a:spcPts val="400"/>
              </a:spcBef>
            </a:pPr>
            <a:r>
              <a:rPr sz="1300" b="0" i="0">
                <a:solidFill>
                  <a:srgbClr val="333333"/>
                </a:solidFill>
                <a:latin typeface="Calibri"/>
              </a:rPr>
              <a:t>8 source modules missing from ARCHITECTURE.md</a:t>
            </a:r>
          </a:p>
          <a:p>
            <a:pPr>
              <a:spcBef>
                <a:spcPts val="400"/>
              </a:spcBef>
            </a:pPr>
            <a:r>
              <a:rPr sz="1300" b="0" i="0">
                <a:solidFill>
                  <a:srgbClr val="333333"/>
                </a:solidFill>
                <a:latin typeface="Calibri"/>
              </a:rPr>
              <a:t>37 scripts missing from ARCHITECTURE.md</a:t>
            </a:r>
          </a:p>
          <a:p>
            <a:pPr>
              <a:spcBef>
                <a:spcPts val="400"/>
              </a:spcBef>
            </a:pPr>
            <a:r>
              <a:rPr sz="1300" b="0" i="0">
                <a:solidFill>
                  <a:srgbClr val="333333"/>
                </a:solidFill>
                <a:latin typeface="Calibri"/>
              </a:rPr>
              <a:t>Undocumented features: W&amp;B, NaviGraph, canvas animation, sync diagnostics</a:t>
            </a:r>
          </a:p>
          <a:p>
            <a:pPr>
              <a:spcBef>
                <a:spcPts val="400"/>
              </a:spcBef>
            </a:pPr>
            <a:r>
              <a:rPr sz="1300" b="0" i="0">
                <a:solidFill>
                  <a:srgbClr val="333333"/>
                </a:solidFill>
                <a:latin typeface="Calibri"/>
              </a:rPr>
              <a:t>README pynapple example uses wrong dataset names</a:t>
            </a:r>
          </a:p>
        </p:txBody>
      </p:sp>
      <p:sp>
        <p:nvSpPr>
          <p:cNvPr id="5" name="TextBox 4"/>
          <p:cNvSpPr txBox="1"/>
          <p:nvPr/>
        </p:nvSpPr>
        <p:spPr>
          <a:xfrm>
            <a:off x="6217920" y="1051560"/>
            <a:ext cx="5029200" cy="274320"/>
          </a:xfrm>
          <a:prstGeom prst="rect">
            <a:avLst/>
          </a:prstGeom>
          <a:noFill/>
        </p:spPr>
        <p:txBody>
          <a:bodyPr wrap="none">
            <a:spAutoFit/>
          </a:bodyPr>
          <a:lstStyle/>
          <a:p>
            <a:r>
              <a:rPr sz="1400" b="1" i="0">
                <a:solidFill>
                  <a:srgbClr val="C0392B"/>
                </a:solidFill>
                <a:latin typeface="Calibri"/>
              </a:rPr>
              <a:t>Technical Debt</a:t>
            </a:r>
          </a:p>
        </p:txBody>
      </p:sp>
      <p:sp>
        <p:nvSpPr>
          <p:cNvPr id="6" name="TextBox 5"/>
          <p:cNvSpPr txBox="1"/>
          <p:nvPr/>
        </p:nvSpPr>
        <p:spPr>
          <a:xfrm>
            <a:off x="6217920" y="1371600"/>
            <a:ext cx="5303520" cy="3200400"/>
          </a:xfrm>
          <a:prstGeom prst="rect">
            <a:avLst/>
          </a:prstGeom>
          <a:noFill/>
        </p:spPr>
        <p:txBody>
          <a:bodyPr wrap="square">
            <a:spAutoFit/>
          </a:bodyPr>
          <a:lstStyle/>
          <a:p>
            <a:pPr>
              <a:spcBef>
                <a:spcPts val="400"/>
              </a:spcBef>
            </a:pPr>
            <a:r>
              <a:rPr sz="1300" b="0" i="0">
                <a:solidFill>
                  <a:srgbClr val="333333"/>
                </a:solidFill>
                <a:latin typeface="Calibri"/>
              </a:rPr>
              <a:t>CASCADE not running: primary spike inference blocked by env constraints</a:t>
            </a:r>
          </a:p>
          <a:p>
            <a:pPr>
              <a:spcBef>
                <a:spcPts val="400"/>
              </a:spcBef>
            </a:pPr>
            <a:r>
              <a:rPr sz="1300" b="0" i="0">
                <a:solidFill>
                  <a:srgbClr val="333333"/>
                </a:solidFill>
                <a:latin typeface="Calibri"/>
              </a:rPr>
              <a:t>FISSA not running: neuropil subtraction blocked by dependency conflicts</a:t>
            </a:r>
          </a:p>
          <a:p>
            <a:pPr>
              <a:spcBef>
                <a:spcPts val="400"/>
              </a:spcBef>
            </a:pPr>
            <a:r>
              <a:rPr sz="1300" b="0" i="0">
                <a:solidFill>
                  <a:srgbClr val="333333"/>
                </a:solidFill>
                <a:latin typeface="Calibri"/>
              </a:rPr>
              <a:t>NWB export: stub only -- no data on DANDI</a:t>
            </a:r>
          </a:p>
          <a:p>
            <a:pPr>
              <a:spcBef>
                <a:spcPts val="400"/>
              </a:spcBef>
            </a:pPr>
            <a:r>
              <a:rPr sz="1300" b="0" i="0">
                <a:solidFill>
                  <a:srgbClr val="333333"/>
                </a:solidFill>
                <a:latin typeface="Calibri"/>
              </a:rPr>
              <a:t>5 sessions missing sync.h5 (likely timing edge cases)</a:t>
            </a:r>
          </a:p>
          <a:p>
            <a:pPr>
              <a:spcBef>
                <a:spcPts val="400"/>
              </a:spcBef>
            </a:pPr>
            <a:r>
              <a:rPr sz="1300" b="0" i="0">
                <a:solidFill>
                  <a:srgbClr val="333333"/>
                </a:solidFill>
                <a:latin typeface="Calibri"/>
              </a:rPr>
              <a:t>Stale champion model checklist in PLAN.md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bIns="137160"/>
          <a:lstStyle/>
          <a:p>
            <a:pPr algn="l"/>
            <a:r>
              <a:rPr sz="2800" b="1" i="0">
                <a:solidFill>
                  <a:srgbClr val="FFFFFF"/>
                </a:solidFill>
                <a:latin typeface="Calibri"/>
              </a:rPr>
              <a:t>Key File Paths Reference</a:t>
            </a:r>
          </a:p>
        </p:txBody>
      </p:sp>
      <p:graphicFrame>
        <p:nvGraphicFramePr>
          <p:cNvPr id="3" name="Table 2"/>
          <p:cNvGraphicFramePr>
            <a:graphicFrameLocks noGrp="1"/>
          </p:cNvGraphicFramePr>
          <p:nvPr/>
        </p:nvGraphicFramePr>
        <p:xfrm>
          <a:off x="457200" y="1188720"/>
          <a:ext cx="11247120" cy="5120640"/>
        </p:xfrm>
        <a:graphic>
          <a:graphicData uri="http://schemas.openxmlformats.org/drawingml/2006/table">
            <a:tbl>
              <a:tblPr firstRow="1" bandRow="1">
                <a:tableStyleId>{5C22544A-7EE6-4342-B048-85BDC9FD1C3A}</a:tableStyleId>
              </a:tblPr>
              <a:tblGrid>
                <a:gridCol w="3200400"/>
                <a:gridCol w="8046720"/>
              </a:tblGrid>
              <a:tr h="320040">
                <a:tc>
                  <a:txBody>
                    <a:bodyPr/>
                    <a:lstStyle/>
                    <a:p>
                      <a:r>
                        <a:rPr sz="1300" b="1" i="0">
                          <a:solidFill>
                            <a:srgbClr val="FFFFFF"/>
                          </a:solidFill>
                          <a:latin typeface="Calibri"/>
                        </a:rPr>
                        <a:t>Purpose</a:t>
                      </a:r>
                    </a:p>
                  </a:txBody>
                  <a:tcPr anchor="ctr">
                    <a:solidFill>
                      <a:srgbClr val="1F4E79"/>
                    </a:solidFill>
                  </a:tcPr>
                </a:tc>
                <a:tc>
                  <a:txBody>
                    <a:bodyPr/>
                    <a:lstStyle/>
                    <a:p>
                      <a:r>
                        <a:rPr sz="1300" b="1" i="0">
                          <a:solidFill>
                            <a:srgbClr val="FFFFFF"/>
                          </a:solidFill>
                          <a:latin typeface="Calibri"/>
                        </a:rPr>
                        <a:t>Path</a:t>
                      </a:r>
                    </a:p>
                  </a:txBody>
                  <a:tcPr anchor="ctr">
                    <a:solidFill>
                      <a:srgbClr val="1F4E79"/>
                    </a:solidFill>
                  </a:tcPr>
                </a:tc>
              </a:tr>
              <a:tr h="320040">
                <a:tc>
                  <a:txBody>
                    <a:bodyPr/>
                    <a:lstStyle/>
                    <a:p>
                      <a:r>
                        <a:rPr sz="1200" b="0" i="0">
                          <a:solidFill>
                            <a:srgbClr val="333333"/>
                          </a:solidFill>
                          <a:latin typeface="Calibri"/>
                        </a:rPr>
                        <a:t>Pipeline source code</a:t>
                      </a:r>
                    </a:p>
                  </a:txBody>
                  <a:tcPr anchor="ctr">
                    <a:solidFill>
                      <a:srgbClr val="FFFFFF"/>
                    </a:solidFill>
                  </a:tcPr>
                </a:tc>
                <a:tc>
                  <a:txBody>
                    <a:bodyPr/>
                    <a:lstStyle/>
                    <a:p>
                      <a:r>
                        <a:rPr sz="1200" b="0" i="0">
                          <a:solidFill>
                            <a:srgbClr val="333333"/>
                          </a:solidFill>
                          <a:latin typeface="Calibri"/>
                        </a:rPr>
                        <a:t>src/hm2p/</a:t>
                      </a:r>
                    </a:p>
                  </a:txBody>
                  <a:tcPr anchor="ctr">
                    <a:solidFill>
                      <a:srgbClr val="FFFFFF"/>
                    </a:solidFill>
                  </a:tcPr>
                </a:tc>
              </a:tr>
              <a:tr h="320040">
                <a:tc>
                  <a:txBody>
                    <a:bodyPr/>
                    <a:lstStyle/>
                    <a:p>
                      <a:r>
                        <a:rPr sz="1200" b="0" i="0">
                          <a:solidFill>
                            <a:srgbClr val="333333"/>
                          </a:solidFill>
                          <a:latin typeface="Calibri"/>
                        </a:rPr>
                        <a:t>Tests</a:t>
                      </a:r>
                    </a:p>
                  </a:txBody>
                  <a:tcPr anchor="ctr">
                    <a:solidFill>
                      <a:srgbClr val="F2F2F2"/>
                    </a:solidFill>
                  </a:tcPr>
                </a:tc>
                <a:tc>
                  <a:txBody>
                    <a:bodyPr/>
                    <a:lstStyle/>
                    <a:p>
                      <a:r>
                        <a:rPr sz="1200" b="0" i="0">
                          <a:solidFill>
                            <a:srgbClr val="333333"/>
                          </a:solidFill>
                          <a:latin typeface="Calibri"/>
                        </a:rPr>
                        <a:t>tests/</a:t>
                      </a:r>
                    </a:p>
                  </a:txBody>
                  <a:tcPr anchor="ctr">
                    <a:solidFill>
                      <a:srgbClr val="F2F2F2"/>
                    </a:solidFill>
                  </a:tcPr>
                </a:tc>
              </a:tr>
              <a:tr h="320040">
                <a:tc>
                  <a:txBody>
                    <a:bodyPr/>
                    <a:lstStyle/>
                    <a:p>
                      <a:r>
                        <a:rPr sz="1200" b="0" i="0">
                          <a:solidFill>
                            <a:srgbClr val="333333"/>
                          </a:solidFill>
                          <a:latin typeface="Calibri"/>
                        </a:rPr>
                        <a:t>Frontend</a:t>
                      </a:r>
                    </a:p>
                  </a:txBody>
                  <a:tcPr anchor="ctr">
                    <a:solidFill>
                      <a:srgbClr val="FFFFFF"/>
                    </a:solidFill>
                  </a:tcPr>
                </a:tc>
                <a:tc>
                  <a:txBody>
                    <a:bodyPr/>
                    <a:lstStyle/>
                    <a:p>
                      <a:r>
                        <a:rPr sz="1200" b="0" i="0">
                          <a:solidFill>
                            <a:srgbClr val="333333"/>
                          </a:solidFill>
                          <a:latin typeface="Calibri"/>
                        </a:rPr>
                        <a:t>frontend/app.py, frontend/data.py, frontend/pages/</a:t>
                      </a:r>
                    </a:p>
                  </a:txBody>
                  <a:tcPr anchor="ctr">
                    <a:solidFill>
                      <a:srgbClr val="FFFFFF"/>
                    </a:solidFill>
                  </a:tcPr>
                </a:tc>
              </a:tr>
              <a:tr h="320040">
                <a:tc>
                  <a:txBody>
                    <a:bodyPr/>
                    <a:lstStyle/>
                    <a:p>
                      <a:r>
                        <a:rPr sz="1200" b="0" i="0">
                          <a:solidFill>
                            <a:srgbClr val="333333"/>
                          </a:solidFill>
                          <a:latin typeface="Calibri"/>
                        </a:rPr>
                        <a:t>Pipeline runners</a:t>
                      </a:r>
                    </a:p>
                  </a:txBody>
                  <a:tcPr anchor="ctr">
                    <a:solidFill>
                      <a:srgbClr val="F2F2F2"/>
                    </a:solidFill>
                  </a:tcPr>
                </a:tc>
                <a:tc>
                  <a:txBody>
                    <a:bodyPr/>
                    <a:lstStyle/>
                    <a:p>
                      <a:r>
                        <a:rPr sz="1200" b="0" i="0">
                          <a:solidFill>
                            <a:srgbClr val="333333"/>
                          </a:solidFill>
                          <a:latin typeface="Calibri"/>
                        </a:rPr>
                        <a:t>scripts/run_stage{0,3,4,5,6}_*.py</a:t>
                      </a:r>
                    </a:p>
                  </a:txBody>
                  <a:tcPr anchor="ctr">
                    <a:solidFill>
                      <a:srgbClr val="F2F2F2"/>
                    </a:solidFill>
                  </a:tcPr>
                </a:tc>
              </a:tr>
              <a:tr h="320040">
                <a:tc>
                  <a:txBody>
                    <a:bodyPr/>
                    <a:lstStyle/>
                    <a:p>
                      <a:r>
                        <a:rPr sz="1200" b="0" i="0">
                          <a:solidFill>
                            <a:srgbClr val="333333"/>
                          </a:solidFill>
                          <a:latin typeface="Calibri"/>
                        </a:rPr>
                        <a:t>DLC workflow scripts</a:t>
                      </a:r>
                    </a:p>
                  </a:txBody>
                  <a:tcPr anchor="ctr">
                    <a:solidFill>
                      <a:srgbClr val="FFFFFF"/>
                    </a:solidFill>
                  </a:tcPr>
                </a:tc>
                <a:tc>
                  <a:txBody>
                    <a:bodyPr/>
                    <a:lstStyle/>
                    <a:p>
                      <a:r>
                        <a:rPr sz="1200" b="0" i="0">
                          <a:solidFill>
                            <a:srgbClr val="333333"/>
                          </a:solidFill>
                          <a:latin typeface="Calibri"/>
                        </a:rPr>
                        <a:t>scripts/*dlc*.py, scripts/launch_dlc_*.py</a:t>
                      </a:r>
                    </a:p>
                  </a:txBody>
                  <a:tcPr anchor="ctr">
                    <a:solidFill>
                      <a:srgbClr val="FFFFFF"/>
                    </a:solidFill>
                  </a:tcPr>
                </a:tc>
              </a:tr>
              <a:tr h="320040">
                <a:tc>
                  <a:txBody>
                    <a:bodyPr/>
                    <a:lstStyle/>
                    <a:p>
                      <a:r>
                        <a:rPr sz="1200" b="0" i="0">
                          <a:solidFill>
                            <a:srgbClr val="333333"/>
                          </a:solidFill>
                          <a:latin typeface="Calibri"/>
                        </a:rPr>
                        <a:t>Config files</a:t>
                      </a:r>
                    </a:p>
                  </a:txBody>
                  <a:tcPr anchor="ctr">
                    <a:solidFill>
                      <a:srgbClr val="F2F2F2"/>
                    </a:solidFill>
                  </a:tcPr>
                </a:tc>
                <a:tc>
                  <a:txBody>
                    <a:bodyPr/>
                    <a:lstStyle/>
                    <a:p>
                      <a:r>
                        <a:rPr sz="1200" b="0" i="0">
                          <a:solidFill>
                            <a:srgbClr val="333333"/>
                          </a:solidFill>
                          <a:latin typeface="Calibri"/>
                        </a:rPr>
                        <a:t>config/pipeline.yaml, compute.yaml, sync.yaml</a:t>
                      </a:r>
                    </a:p>
                  </a:txBody>
                  <a:tcPr anchor="ctr">
                    <a:solidFill>
                      <a:srgbClr val="F2F2F2"/>
                    </a:solidFill>
                  </a:tcPr>
                </a:tc>
              </a:tr>
              <a:tr h="320040">
                <a:tc>
                  <a:txBody>
                    <a:bodyPr/>
                    <a:lstStyle/>
                    <a:p>
                      <a:r>
                        <a:rPr sz="1200" b="0" i="0">
                          <a:solidFill>
                            <a:srgbClr val="333333"/>
                          </a:solidFill>
                          <a:latin typeface="Calibri"/>
                        </a:rPr>
                        <a:t>Metadata</a:t>
                      </a:r>
                    </a:p>
                  </a:txBody>
                  <a:tcPr anchor="ctr">
                    <a:solidFill>
                      <a:srgbClr val="FFFFFF"/>
                    </a:solidFill>
                  </a:tcPr>
                </a:tc>
                <a:tc>
                  <a:txBody>
                    <a:bodyPr/>
                    <a:lstStyle/>
                    <a:p>
                      <a:r>
                        <a:rPr sz="1200" b="0" i="0">
                          <a:solidFill>
                            <a:srgbClr val="333333"/>
                          </a:solidFill>
                          <a:latin typeface="Calibri"/>
                        </a:rPr>
                        <a:t>metadata/animals.csv, experiments.csv</a:t>
                      </a:r>
                    </a:p>
                  </a:txBody>
                  <a:tcPr anchor="ctr">
                    <a:solidFill>
                      <a:srgbClr val="FFFFFF"/>
                    </a:solidFill>
                  </a:tcPr>
                </a:tc>
              </a:tr>
              <a:tr h="320040">
                <a:tc>
                  <a:txBody>
                    <a:bodyPr/>
                    <a:lstStyle/>
                    <a:p>
                      <a:r>
                        <a:rPr sz="1200" b="0" i="0">
                          <a:solidFill>
                            <a:srgbClr val="333333"/>
                          </a:solidFill>
                          <a:latin typeface="Calibri"/>
                        </a:rPr>
                        <a:t>Snakemake</a:t>
                      </a:r>
                    </a:p>
                  </a:txBody>
                  <a:tcPr anchor="ctr">
                    <a:solidFill>
                      <a:srgbClr val="F2F2F2"/>
                    </a:solidFill>
                  </a:tcPr>
                </a:tc>
                <a:tc>
                  <a:txBody>
                    <a:bodyPr/>
                    <a:lstStyle/>
                    <a:p>
                      <a:r>
                        <a:rPr sz="1200" b="0" i="0">
                          <a:solidFill>
                            <a:srgbClr val="333333"/>
                          </a:solidFill>
                          <a:latin typeface="Calibri"/>
                        </a:rPr>
                        <a:t>workflow/Snakefile, workflow/rules/, workflow/profiles/</a:t>
                      </a:r>
                    </a:p>
                  </a:txBody>
                  <a:tcPr anchor="ctr">
                    <a:solidFill>
                      <a:srgbClr val="F2F2F2"/>
                    </a:solidFill>
                  </a:tcPr>
                </a:tc>
              </a:tr>
              <a:tr h="320040">
                <a:tc>
                  <a:txBody>
                    <a:bodyPr/>
                    <a:lstStyle/>
                    <a:p>
                      <a:r>
                        <a:rPr sz="1200" b="0" i="0">
                          <a:solidFill>
                            <a:srgbClr val="333333"/>
                          </a:solidFill>
                          <a:latin typeface="Calibri"/>
                        </a:rPr>
                        <a:t>Docker</a:t>
                      </a:r>
                    </a:p>
                  </a:txBody>
                  <a:tcPr anchor="ctr">
                    <a:solidFill>
                      <a:srgbClr val="FFFFFF"/>
                    </a:solidFill>
                  </a:tcPr>
                </a:tc>
                <a:tc>
                  <a:txBody>
                    <a:bodyPr/>
                    <a:lstStyle/>
                    <a:p>
                      <a:r>
                        <a:rPr sz="1200" b="0" i="0">
                          <a:solidFill>
                            <a:srgbClr val="333333"/>
                          </a:solidFill>
                          <a:latin typeface="Calibri"/>
                        </a:rPr>
                        <a:t>docker/{gpu,cpu,kpms,cascade}.Dockerfile</a:t>
                      </a:r>
                    </a:p>
                  </a:txBody>
                  <a:tcPr anchor="ctr">
                    <a:solidFill>
                      <a:srgbClr val="FFFFFF"/>
                    </a:solidFill>
                  </a:tcPr>
                </a:tc>
              </a:tr>
              <a:tr h="320040">
                <a:tc>
                  <a:txBody>
                    <a:bodyPr/>
                    <a:lstStyle/>
                    <a:p>
                      <a:r>
                        <a:rPr sz="1200" b="0" i="0">
                          <a:solidFill>
                            <a:srgbClr val="333333"/>
                          </a:solidFill>
                          <a:latin typeface="Calibri"/>
                        </a:rPr>
                        <a:t>Architecture docs</a:t>
                      </a:r>
                    </a:p>
                  </a:txBody>
                  <a:tcPr anchor="ctr">
                    <a:solidFill>
                      <a:srgbClr val="F2F2F2"/>
                    </a:solidFill>
                  </a:tcPr>
                </a:tc>
                <a:tc>
                  <a:txBody>
                    <a:bodyPr/>
                    <a:lstStyle/>
                    <a:p>
                      <a:r>
                        <a:rPr sz="1200" b="0" i="0">
                          <a:solidFill>
                            <a:srgbClr val="333333"/>
                          </a:solidFill>
                          <a:latin typeface="Calibri"/>
                        </a:rPr>
                        <a:t>ARCHITECTURE.md, PLAN.md, CLAUDE.md</a:t>
                      </a:r>
                    </a:p>
                  </a:txBody>
                  <a:tcPr anchor="ctr">
                    <a:solidFill>
                      <a:srgbClr val="F2F2F2"/>
                    </a:solidFill>
                  </a:tcPr>
                </a:tc>
              </a:tr>
              <a:tr h="320040">
                <a:tc>
                  <a:txBody>
                    <a:bodyPr/>
                    <a:lstStyle/>
                    <a:p>
                      <a:r>
                        <a:rPr sz="1200" b="0" i="0">
                          <a:solidFill>
                            <a:srgbClr val="333333"/>
                          </a:solidFill>
                          <a:latin typeface="Calibri"/>
                        </a:rPr>
                        <a:t>Topic docs</a:t>
                      </a:r>
                    </a:p>
                  </a:txBody>
                  <a:tcPr anchor="ctr">
                    <a:solidFill>
                      <a:srgbClr val="FFFFFF"/>
                    </a:solidFill>
                  </a:tcPr>
                </a:tc>
                <a:tc>
                  <a:txBody>
                    <a:bodyPr/>
                    <a:lstStyle/>
                    <a:p>
                      <a:r>
                        <a:rPr sz="1200" b="0" i="0">
                          <a:solidFill>
                            <a:srgbClr val="333333"/>
                          </a:solidFill>
                          <a:latin typeface="Calibri"/>
                        </a:rPr>
                        <a:t>docs/ (41 markdown files)</a:t>
                      </a:r>
                    </a:p>
                  </a:txBody>
                  <a:tcPr anchor="ctr">
                    <a:solidFill>
                      <a:srgbClr val="FFFFFF"/>
                    </a:solidFill>
                  </a:tcPr>
                </a:tc>
              </a:tr>
              <a:tr h="320040">
                <a:tc>
                  <a:txBody>
                    <a:bodyPr/>
                    <a:lstStyle/>
                    <a:p>
                      <a:r>
                        <a:rPr sz="1200" b="0" i="0">
                          <a:solidFill>
                            <a:srgbClr val="333333"/>
                          </a:solidFill>
                          <a:latin typeface="Calibri"/>
                        </a:rPr>
                        <a:t>S3 rawdata</a:t>
                      </a:r>
                    </a:p>
                  </a:txBody>
                  <a:tcPr anchor="ctr">
                    <a:solidFill>
                      <a:srgbClr val="F2F2F2"/>
                    </a:solidFill>
                  </a:tcPr>
                </a:tc>
                <a:tc>
                  <a:txBody>
                    <a:bodyPr/>
                    <a:lstStyle/>
                    <a:p>
                      <a:r>
                        <a:rPr sz="1200" b="0" i="0">
                          <a:solidFill>
                            <a:srgbClr val="333333"/>
                          </a:solidFill>
                          <a:latin typeface="Calibri"/>
                        </a:rPr>
                        <a:t>s3://hm2p-rawdata/</a:t>
                      </a:r>
                    </a:p>
                  </a:txBody>
                  <a:tcPr anchor="ctr">
                    <a:solidFill>
                      <a:srgbClr val="F2F2F2"/>
                    </a:solidFill>
                  </a:tcPr>
                </a:tc>
              </a:tr>
              <a:tr h="320040">
                <a:tc>
                  <a:txBody>
                    <a:bodyPr/>
                    <a:lstStyle/>
                    <a:p>
                      <a:r>
                        <a:rPr sz="1200" b="0" i="0">
                          <a:solidFill>
                            <a:srgbClr val="333333"/>
                          </a:solidFill>
                          <a:latin typeface="Calibri"/>
                        </a:rPr>
                        <a:t>S3 derivatives</a:t>
                      </a:r>
                    </a:p>
                  </a:txBody>
                  <a:tcPr anchor="ctr">
                    <a:solidFill>
                      <a:srgbClr val="FFFFFF"/>
                    </a:solidFill>
                  </a:tcPr>
                </a:tc>
                <a:tc>
                  <a:txBody>
                    <a:bodyPr/>
                    <a:lstStyle/>
                    <a:p>
                      <a:r>
                        <a:rPr sz="1200" b="0" i="0">
                          <a:solidFill>
                            <a:srgbClr val="333333"/>
                          </a:solidFill>
                          <a:latin typeface="Calibri"/>
                        </a:rPr>
                        <a:t>s3://hm2p-derivatives/</a:t>
                      </a:r>
                    </a:p>
                  </a:txBody>
                  <a:tcPr anchor="ctr">
                    <a:solidFill>
                      <a:srgbClr val="FFFFFF"/>
                    </a:solidFill>
                  </a:tcPr>
                </a:tc>
              </a:tr>
              <a:tr h="320040">
                <a:tc>
                  <a:txBody>
                    <a:bodyPr/>
                    <a:lstStyle/>
                    <a:p>
                      <a:r>
                        <a:rPr sz="1200" b="0" i="0">
                          <a:solidFill>
                            <a:srgbClr val="333333"/>
                          </a:solidFill>
                          <a:latin typeface="Calibri"/>
                        </a:rPr>
                        <a:t>DLC champion manifest</a:t>
                      </a:r>
                    </a:p>
                  </a:txBody>
                  <a:tcPr anchor="ctr">
                    <a:solidFill>
                      <a:srgbClr val="F2F2F2"/>
                    </a:solidFill>
                  </a:tcPr>
                </a:tc>
                <a:tc>
                  <a:txBody>
                    <a:bodyPr/>
                    <a:lstStyle/>
                    <a:p>
                      <a:r>
                        <a:rPr sz="1200" b="0" i="0">
                          <a:solidFill>
                            <a:srgbClr val="333333"/>
                          </a:solidFill>
                          <a:latin typeface="Calibri"/>
                        </a:rPr>
                        <a:t>s3://hm2p-derivatives/dlc-champion.json</a:t>
                      </a:r>
                    </a:p>
                  </a:txBody>
                  <a:tcPr anchor="ctr">
                    <a:solidFill>
                      <a:srgbClr val="F2F2F2"/>
                    </a:solidFill>
                  </a:tcPr>
                </a:tc>
              </a:tr>
              <a:tr h="320040">
                <a:tc>
                  <a:txBody>
                    <a:bodyPr/>
                    <a:lstStyle/>
                    <a:p>
                      <a:r>
                        <a:rPr sz="1200" b="0" i="0">
                          <a:solidFill>
                            <a:srgbClr val="333333"/>
                          </a:solidFill>
                          <a:latin typeface="Calibri"/>
                        </a:rPr>
                        <a:t>Legacy code (read-only)</a:t>
                      </a:r>
                    </a:p>
                  </a:txBody>
                  <a:tcPr anchor="ctr">
                    <a:solidFill>
                      <a:srgbClr val="FFFFFF"/>
                    </a:solidFill>
                  </a:tcPr>
                </a:tc>
                <a:tc>
                  <a:txBody>
                    <a:bodyPr/>
                    <a:lstStyle/>
                    <a:p>
                      <a:r>
                        <a:rPr sz="1200" b="0" i="0">
                          <a:solidFill>
                            <a:srgbClr val="333333"/>
                          </a:solidFill>
                          <a:latin typeface="Calibri"/>
                        </a:rPr>
                        <a:t>old-pipeline/</a:t>
                      </a:r>
                    </a:p>
                  </a:txBody>
                  <a:tcPr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